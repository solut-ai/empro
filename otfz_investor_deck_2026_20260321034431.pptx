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952805" y="-952805"/>
            <a:ext cx="3810305" cy="381030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58707" y="3524098"/>
            <a:ext cx="4762195" cy="476219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0" r="0" t="7772" b="7772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>
            <a:alphaModFix amt="30000"/>
          </a:blip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" b="-2"/>
          <a:stretch/>
        </p:blipFill>
        <p:spPr>
          <a:xfrm>
            <a:off x="1218895" y="271577"/>
            <a:ext cx="9753905" cy="6315761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3764585" y="737921"/>
            <a:ext cx="4668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OUTTHEFREEZER</a:t>
            </a:r>
            <a:endParaRPr lang="en-US" sz="3000" dirty="0"/>
          </a:p>
        </p:txBody>
      </p:sp>
      <p:sp>
        <p:nvSpPr>
          <p:cNvPr id="9" name="Text 2"/>
          <p:cNvSpPr txBox="1"/>
          <p:nvPr/>
        </p:nvSpPr>
        <p:spPr>
          <a:xfrm>
            <a:off x="3687775" y="1385316"/>
            <a:ext cx="48198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144" kern="0" dirty="0">
                <a:solidFill>
                  <a:srgbClr val="4A9B9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Frozen Universe | Silver-ledger Trust</a:t>
            </a:r>
            <a:endParaRPr lang="en-US" sz="1400" dirty="0"/>
          </a:p>
        </p:txBody>
      </p:sp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384" b="-384"/>
          <a:stretch/>
        </p:blipFill>
        <p:spPr>
          <a:xfrm>
            <a:off x="5619902" y="2116836"/>
            <a:ext cx="952805" cy="38405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1686154" y="2459736"/>
            <a:ext cx="8820302" cy="1343254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4"/>
          <p:cNvSpPr txBox="1"/>
          <p:nvPr/>
        </p:nvSpPr>
        <p:spPr>
          <a:xfrm>
            <a:off x="1600200" y="2459736"/>
            <a:ext cx="8992210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Crypto Meets Freedom</a:t>
            </a:r>
            <a:endParaRPr lang="en-US" sz="4800" dirty="0"/>
          </a:p>
        </p:txBody>
      </p:sp>
      <p:sp>
        <p:nvSpPr>
          <p:cNvPr id="13" name="Text 5"/>
          <p:cNvSpPr txBox="1"/>
          <p:nvPr/>
        </p:nvSpPr>
        <p:spPr>
          <a:xfrm>
            <a:off x="2791663" y="4029761"/>
            <a:ext cx="66111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smart chain innovation beside Veritas &amp; Ethereum,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a freer tomorrow with AI empathy.</a:t>
            </a:r>
            <a:endParaRPr lang="en-US" sz="1800" dirty="0"/>
          </a:p>
        </p:txBody>
      </p:sp>
      <p:sp>
        <p:nvSpPr>
          <p:cNvPr id="14" name="Shape 6"/>
          <p:cNvSpPr/>
          <p:nvPr/>
        </p:nvSpPr>
        <p:spPr>
          <a:xfrm>
            <a:off x="1686154" y="5675681"/>
            <a:ext cx="8820302" cy="9144"/>
          </a:xfrm>
          <a:prstGeom prst="rect">
            <a:avLst/>
          </a:prstGeom>
          <a:solidFill>
            <a:srgbClr val="C0C5CE">
              <a:alpha val="30000"/>
            </a:srgbClr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1931213" y="5914339"/>
            <a:ext cx="1384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outthefreezer.shop</a:t>
            </a:r>
            <a:endParaRPr lang="en-US" sz="1000" dirty="0"/>
          </a:p>
        </p:txBody>
      </p:sp>
      <p:sp>
        <p:nvSpPr>
          <p:cNvPr id="16" name="Text 8"/>
          <p:cNvSpPr txBox="1"/>
          <p:nvPr/>
        </p:nvSpPr>
        <p:spPr>
          <a:xfrm>
            <a:off x="5606186" y="5914339"/>
            <a:ext cx="119054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March 21, 2026</a:t>
            </a:r>
            <a:endParaRPr lang="en-US" sz="1000" dirty="0"/>
          </a:p>
        </p:txBody>
      </p:sp>
      <p:sp>
        <p:nvSpPr>
          <p:cNvPr id="17" name="Text 9"/>
          <p:cNvSpPr txBox="1"/>
          <p:nvPr/>
        </p:nvSpPr>
        <p:spPr>
          <a:xfrm>
            <a:off x="9379001" y="5914339"/>
            <a:ext cx="121249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Whitepaper v0.2</a:t>
            </a:r>
            <a:endParaRPr lang="en-US" sz="10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686154" y="5940857"/>
            <a:ext cx="133502" cy="133502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rcRect l="-2512" r="-2512" t="0" b="0"/>
          <a:stretch/>
        </p:blipFill>
        <p:spPr>
          <a:xfrm>
            <a:off x="9162288" y="5940857"/>
            <a:ext cx="105156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7733" b="773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9905" y="1534363"/>
            <a:ext cx="10972800" cy="9144"/>
          </a:xfrm>
          <a:prstGeom prst="rect">
            <a:avLst/>
          </a:prstGeom>
          <a:solidFill>
            <a:srgbClr val="C0C5CE">
              <a:alpha val="20000"/>
            </a:srgbClr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9905" y="457200"/>
            <a:ext cx="467898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Frozen Universe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1104595"/>
            <a:ext cx="41815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9B9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Vision &amp; Ecosystem Overview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491472" y="1173175"/>
            <a:ext cx="21003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OUTTHEFREEZER Ecosystem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905" y="1846174"/>
            <a:ext cx="2667305" cy="38295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01191" y="3450031"/>
            <a:ext cx="12865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YANDEX</a:t>
            </a:r>
            <a:endParaRPr lang="en-US" sz="2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60" b="-360"/>
          <a:stretch/>
        </p:blipFill>
        <p:spPr>
          <a:xfrm>
            <a:off x="1752905" y="4013302"/>
            <a:ext cx="381305" cy="192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86054" y="4185209"/>
            <a:ext cx="2115007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core regulated exchange hub designed for youth &amp; novice investors. Safe, compliant, and the central gravity for the ecosystem.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581705" y="1846174"/>
            <a:ext cx="3886200" cy="1800454"/>
          </a:xfrm>
          <a:prstGeom prst="roundRect">
            <a:avLst>
              <a:gd name="adj" fmla="val 4299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819449" y="208391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4A9B9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505" r="-505" t="0" b="0"/>
          <a:stretch/>
        </p:blipFill>
        <p:spPr>
          <a:xfrm>
            <a:off x="3895344" y="2184502"/>
            <a:ext cx="228600" cy="18105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352544" y="2148840"/>
            <a:ext cx="1429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SCBMS &amp; TNICS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3819449" y="2617013"/>
            <a:ext cx="3486607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SLVR8 blockchain solutions powering Smart Cities infrastructure. Supported by Edge compute micro-data centers for distributed processing.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7696505" y="1846174"/>
            <a:ext cx="3886200" cy="1800454"/>
          </a:xfrm>
          <a:prstGeom prst="roundRect">
            <a:avLst>
              <a:gd name="adj" fmla="val 4299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934249" y="208391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4A9B9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33918" y="2184502"/>
            <a:ext cx="181051" cy="18105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467344" y="2148840"/>
            <a:ext cx="16148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 Spire Data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7934249" y="2617013"/>
            <a:ext cx="3486607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Home of </a:t>
            </a:r>
            <a:pPr algn="l" indent="0" marL="0">
              <a:buNone/>
            </a:pPr>
            <a:r>
              <a:rPr lang="en-US" sz="10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EchoMind</a:t>
            </a:r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&amp; </a:t>
            </a:r>
            <a:pPr algn="l" indent="0" marL="0">
              <a:buNone/>
            </a:pPr>
            <a:r>
              <a:rPr lang="en-US" sz="10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Spektraxa (AIR)</a:t>
            </a:r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AI-driven insights, strategic forecasting, and automated intelligence response. 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3581705" y="3874313"/>
            <a:ext cx="3886200" cy="1800454"/>
          </a:xfrm>
          <a:prstGeom prst="roundRect">
            <a:avLst>
              <a:gd name="adj" fmla="val 4299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3819449" y="411297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4A9B9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919118" y="4212641"/>
            <a:ext cx="181051" cy="181051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352544" y="4177894"/>
            <a:ext cx="97017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LuxeVault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3819449" y="4646066"/>
            <a:ext cx="3486607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Premium cybersecurity and data vaulting service. Ensuring sovereign-grade protection for digital assets and sensitive intelligence.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7696505" y="3874313"/>
            <a:ext cx="3886200" cy="1800454"/>
          </a:xfrm>
          <a:prstGeom prst="roundRect">
            <a:avLst>
              <a:gd name="adj" fmla="val 4299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934249" y="411297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4A9B9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-505" r="-505" t="0" b="0"/>
          <a:stretch/>
        </p:blipFill>
        <p:spPr>
          <a:xfrm>
            <a:off x="8010144" y="4212641"/>
            <a:ext cx="228600" cy="181051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467344" y="4177894"/>
            <a:ext cx="18324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Mission Alignment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7934249" y="4646066"/>
            <a:ext cx="3486607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Simplify complexity. Align capital with stewardship. Building an interconnected, compliant, human-centered digital asset ecosystem.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609905" y="5903366"/>
            <a:ext cx="10972800" cy="504749"/>
          </a:xfrm>
          <a:prstGeom prst="rect">
            <a:avLst/>
          </a:prstGeom>
          <a:solidFill>
            <a:srgbClr val="0A1628">
              <a:alpha val="60000"/>
            </a:srgbClr>
          </a:solidFill>
          <a:ln/>
        </p:spPr>
      </p:sp>
      <p:sp>
        <p:nvSpPr>
          <p:cNvPr id="34" name="Shape 25"/>
          <p:cNvSpPr/>
          <p:nvPr/>
        </p:nvSpPr>
        <p:spPr>
          <a:xfrm>
            <a:off x="609905" y="5903366"/>
            <a:ext cx="10972800" cy="9144"/>
          </a:xfrm>
          <a:prstGeom prst="rect">
            <a:avLst/>
          </a:prstGeom>
          <a:solidFill>
            <a:srgbClr val="C0C5CE">
              <a:alpha val="10000"/>
            </a:srgbClr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609905" y="6070702"/>
            <a:ext cx="16294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 Companies</a:t>
            </a:r>
            <a:endParaRPr lang="en-US" sz="9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28109" y="6104534"/>
            <a:ext cx="105156" cy="105156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4633265" y="6065215"/>
            <a:ext cx="1257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MK MANAGEMENT</a:t>
            </a:r>
            <a:endParaRPr lang="en-US" sz="9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111850" y="6104534"/>
            <a:ext cx="105156" cy="10515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216091" y="6065215"/>
            <a:ext cx="5303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AIP/AIL</a:t>
            </a:r>
            <a:endParaRPr lang="en-US" sz="9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967728" y="6104534"/>
            <a:ext cx="105156" cy="105156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7072884" y="6065215"/>
            <a:ext cx="12902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XTIGE Motorsports</a:t>
            </a:r>
            <a:endParaRPr lang="en-US" sz="90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527694" y="6104534"/>
            <a:ext cx="105156" cy="105156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8632850" y="6065215"/>
            <a:ext cx="13661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Johnsonz Transport</a:t>
            </a:r>
            <a:endParaRPr lang="en-US" sz="900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155326" y="6104534"/>
            <a:ext cx="105156" cy="105156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10260482" y="6065215"/>
            <a:ext cx="15160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Bellevue Boxing Club</a:t>
            </a:r>
            <a:endParaRPr lang="en-US" sz="90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638605" y="2449678"/>
            <a:ext cx="609905" cy="6099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381305"/>
            <a:ext cx="11239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Problem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14807" y="1162202"/>
            <a:ext cx="111639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9B9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Blockchain Now?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1500" y="1886407"/>
            <a:ext cx="3495751" cy="4733849"/>
          </a:xfrm>
          <a:prstGeom prst="roundRect">
            <a:avLst>
              <a:gd name="adj" fmla="val 2281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851" y="2971800"/>
            <a:ext cx="29050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6851" y="2263140"/>
            <a:ext cx="418795" cy="476402"/>
          </a:xfrm>
          <a:prstGeom prst="roundRect">
            <a:avLst>
              <a:gd name="adj" fmla="val 119095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8291" y="2387498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21892" y="2180844"/>
            <a:ext cx="2433218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Finance Gaps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6851" y="3249778"/>
            <a:ext cx="152705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00861" y="3212287"/>
            <a:ext cx="24478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Fragmented ledgers causing reconciliation overhead &amp; errors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6851" y="3898087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00861" y="3859682"/>
            <a:ext cx="24478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Slow batch settlements (T+2) locking capital unnecessarily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866851" y="4545482"/>
            <a:ext cx="133502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81658" y="4507078"/>
            <a:ext cx="2467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access to private markets with opaque risk &amp; fees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6851" y="5192878"/>
            <a:ext cx="152705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00861" y="5155387"/>
            <a:ext cx="24478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Cross-border friction and slow collateral mobility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349801" y="1886407"/>
            <a:ext cx="3495751" cy="4733849"/>
          </a:xfrm>
          <a:prstGeom prst="roundRect">
            <a:avLst>
              <a:gd name="adj" fmla="val 2281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4645152" y="2800807"/>
            <a:ext cx="29050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4645152" y="2180844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68596" y="2305202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264201" y="2259482"/>
            <a:ext cx="233629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Leaders Need</a:t>
            </a:r>
            <a:endParaRPr lang="en-US" sz="16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45152" y="3086100"/>
            <a:ext cx="152705" cy="15270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178247" y="3047695"/>
            <a:ext cx="24478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Shared truth with immutable audit trails</a:t>
            </a:r>
            <a:endParaRPr lang="en-US" sz="12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4645152" y="3733495"/>
            <a:ext cx="133502" cy="15270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159959" y="3696005"/>
            <a:ext cx="2467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Programmable escrow and instant settlement capability</a:t>
            </a:r>
            <a:endParaRPr lang="en-US" sz="12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645152" y="4381805"/>
            <a:ext cx="152705" cy="152705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5178247" y="4343400"/>
            <a:ext cx="24478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Regulated on/off-ramps with fully audited reserves</a:t>
            </a:r>
            <a:endParaRPr lang="en-US" sz="12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rcRect l="-33" r="-33" t="0" b="0"/>
          <a:stretch/>
        </p:blipFill>
        <p:spPr>
          <a:xfrm>
            <a:off x="4645152" y="5029200"/>
            <a:ext cx="171907" cy="152705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5197450" y="4990795"/>
            <a:ext cx="24286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Multi-asset collateralization across public/private markets</a:t>
            </a:r>
            <a:endParaRPr lang="en-US" sz="1200" dirty="0"/>
          </a:p>
        </p:txBody>
      </p:sp>
      <p:sp>
        <p:nvSpPr>
          <p:cNvPr id="32" name="Shape 20"/>
          <p:cNvSpPr/>
          <p:nvPr/>
        </p:nvSpPr>
        <p:spPr>
          <a:xfrm>
            <a:off x="8128102" y="1886407"/>
            <a:ext cx="3495751" cy="4733849"/>
          </a:xfrm>
          <a:prstGeom prst="roundRect">
            <a:avLst>
              <a:gd name="adj" fmla="val 2281"/>
            </a:avLst>
          </a:prstGeom>
          <a:solidFill>
            <a:srgbClr val="4A9B9F">
              <a:alpha val="8000"/>
            </a:srgbClr>
          </a:solidFill>
          <a:ln w="12700">
            <a:solidFill>
              <a:srgbClr val="4A9B9F">
                <a:alpha val="40000"/>
              </a:srgbClr>
            </a:solidFill>
            <a:prstDash val="solid"/>
          </a:ln>
        </p:spPr>
      </p:sp>
      <p:sp>
        <p:nvSpPr>
          <p:cNvPr id="33" name="Shape 21"/>
          <p:cNvSpPr/>
          <p:nvPr/>
        </p:nvSpPr>
        <p:spPr>
          <a:xfrm>
            <a:off x="8423453" y="2800807"/>
            <a:ext cx="29050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2"/>
          <p:cNvSpPr/>
          <p:nvPr/>
        </p:nvSpPr>
        <p:spPr>
          <a:xfrm>
            <a:off x="8423453" y="2180844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4A9B9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546897" y="2305202"/>
            <a:ext cx="228600" cy="22860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9042502" y="2259482"/>
            <a:ext cx="206197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OTFZ Answer</a:t>
            </a:r>
            <a:endParaRPr lang="en-US" sz="16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3" b="-43"/>
          <a:stretch/>
        </p:blipFill>
        <p:spPr>
          <a:xfrm>
            <a:off x="8423453" y="3086100"/>
            <a:ext cx="133502" cy="152705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8938260" y="3047695"/>
            <a:ext cx="24670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Veritas BFT Finality:</a:t>
            </a:r>
            <a:pPr algn="l" indent="0" marL="0">
              <a:buNone/>
            </a:pPr>
            <a:r>
              <a:rPr lang="en-US" sz="12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Deterministic, fast, and secure consensus</a:t>
            </a:r>
            <a:endParaRPr lang="en-US" sz="120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43" b="-43"/>
          <a:stretch/>
        </p:blipFill>
        <p:spPr>
          <a:xfrm>
            <a:off x="8423453" y="3962095"/>
            <a:ext cx="133502" cy="152705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8938260" y="3924605"/>
            <a:ext cx="24670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SLVR8 Hash Suite:</a:t>
            </a:r>
            <a:pPr algn="l" indent="0" marL="0">
              <a:buNone/>
            </a:pPr>
            <a:r>
              <a:rPr lang="en-US" sz="12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Domain-separated security for digital assets</a:t>
            </a:r>
            <a:endParaRPr lang="en-US" sz="1200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rcRect l="-33" r="-33" t="0" b="0"/>
          <a:stretch/>
        </p:blipFill>
        <p:spPr>
          <a:xfrm>
            <a:off x="8423453" y="4839005"/>
            <a:ext cx="171907" cy="152705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8975750" y="4800600"/>
            <a:ext cx="24286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Dollar-Friendly Design:</a:t>
            </a:r>
            <a:pPr algn="l" indent="0" marL="0">
              <a:buNone/>
            </a:pPr>
            <a:r>
              <a:rPr lang="en-US" sz="12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Seamless OTC rails + Block/Square for fiat</a:t>
            </a:r>
            <a:endParaRPr lang="en-US" sz="120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423453" y="5486400"/>
            <a:ext cx="152705" cy="152705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8956548" y="5447995"/>
            <a:ext cx="24478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Scalable Roadmap:</a:t>
            </a:r>
            <a:pPr algn="l" indent="0" marL="0">
              <a:buNone/>
            </a:pPr>
            <a:r>
              <a:rPr lang="en-US" sz="12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Permissioned-to-permissionless for global reach</a:t>
            </a:r>
            <a:endParaRPr lang="en-US" sz="1200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30" b="-30"/>
          <a:stretch/>
        </p:blipFill>
        <p:spPr>
          <a:xfrm>
            <a:off x="4162349" y="4091026"/>
            <a:ext cx="190195" cy="304495"/>
          </a:xfrm>
          <a:prstGeom prst="rect">
            <a:avLst/>
          </a:prstGeom>
        </p:spPr>
      </p:pic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30" b="-30"/>
          <a:stretch/>
        </p:blipFill>
        <p:spPr>
          <a:xfrm>
            <a:off x="7918704" y="4091026"/>
            <a:ext cx="190195" cy="304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86500" y="381305"/>
            <a:ext cx="601126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Paper to Practice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286500" y="945490"/>
            <a:ext cx="56418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4A9B9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Translating Principles for Institutions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86500" y="1574597"/>
            <a:ext cx="5429707" cy="2038198"/>
          </a:xfrm>
          <a:prstGeom prst="roundRect">
            <a:avLst>
              <a:gd name="adj" fmla="val 5031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95644" y="2327148"/>
            <a:ext cx="5410505" cy="9144"/>
          </a:xfrm>
          <a:prstGeom prst="roundRect">
            <a:avLst>
              <a:gd name="adj" fmla="val 3037975"/>
            </a:avLst>
          </a:prstGeom>
          <a:solidFill>
            <a:srgbClr val="C0C5CE">
              <a:alpha val="10000"/>
            </a:srgbClr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485" y="1840687"/>
            <a:ext cx="2417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Private Banking Ledger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934602" y="1879092"/>
            <a:ext cx="133502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191549" y="1726387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Shared Tamper-Evident Ledger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95644" y="3079699"/>
            <a:ext cx="5410505" cy="9144"/>
          </a:xfrm>
          <a:prstGeom prst="rect">
            <a:avLst/>
          </a:prstGeom>
          <a:solidFill>
            <a:srgbClr val="C0C5CE">
              <a:alpha val="10000"/>
            </a:srgbClr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93485" y="2593238"/>
            <a:ext cx="2417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T+2 Settlement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8934602" y="2631643"/>
            <a:ext cx="133502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191549" y="2478938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Deterministic Instant Finality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393485" y="3231490"/>
            <a:ext cx="2417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Opaque Compliance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8934602" y="3269894"/>
            <a:ext cx="133502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91549" y="3231490"/>
            <a:ext cx="2417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Audit-Friendly History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86500" y="3898087"/>
            <a:ext cx="1714500" cy="1371600"/>
          </a:xfrm>
          <a:prstGeom prst="roundRect">
            <a:avLst>
              <a:gd name="adj" fmla="val 9259"/>
            </a:avLst>
          </a:prstGeom>
          <a:solidFill>
            <a:srgbClr val="F7F9FC">
              <a:alpha val="5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6286500" y="3898087"/>
            <a:ext cx="1714500" cy="28346"/>
          </a:xfrm>
          <a:prstGeom prst="roundRect">
            <a:avLst>
              <a:gd name="adj" fmla="val 448035"/>
            </a:avLst>
          </a:prstGeom>
          <a:solidFill>
            <a:srgbClr val="F7931A"/>
          </a:solidFill>
          <a:ln w="12700">
            <a:solidFill>
              <a:srgbClr val="F7931A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91656" y="4507992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Bitcoin (PoW)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0" y="4784141"/>
            <a:ext cx="1485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Neutral base asset &amp; store of value anchor.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8143646" y="3898087"/>
            <a:ext cx="1714500" cy="1371600"/>
          </a:xfrm>
          <a:prstGeom prst="roundRect">
            <a:avLst>
              <a:gd name="adj" fmla="val 9259"/>
            </a:avLst>
          </a:prstGeom>
          <a:solidFill>
            <a:srgbClr val="F7F9FC">
              <a:alpha val="5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8143646" y="3898087"/>
            <a:ext cx="1714500" cy="28346"/>
          </a:xfrm>
          <a:prstGeom prst="roundRect">
            <a:avLst>
              <a:gd name="adj" fmla="val 448035"/>
            </a:avLst>
          </a:prstGeom>
          <a:solidFill>
            <a:srgbClr val="4A9B9F"/>
          </a:solidFill>
          <a:ln w="12700">
            <a:solidFill>
              <a:srgbClr val="4A9B9F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248802" y="4507992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Veritas (BFT)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8257946" y="4784141"/>
            <a:ext cx="1485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 speed &amp; finality for smart cities.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0001707" y="3898087"/>
            <a:ext cx="1714500" cy="1371600"/>
          </a:xfrm>
          <a:prstGeom prst="roundRect">
            <a:avLst>
              <a:gd name="adj" fmla="val 9259"/>
            </a:avLst>
          </a:prstGeom>
          <a:solidFill>
            <a:srgbClr val="F7F9FC">
              <a:alpha val="5000"/>
            </a:srgbClr>
          </a:solidFill>
          <a:ln/>
        </p:spPr>
      </p:sp>
      <p:sp>
        <p:nvSpPr>
          <p:cNvPr id="27" name="Shape 22"/>
          <p:cNvSpPr/>
          <p:nvPr/>
        </p:nvSpPr>
        <p:spPr>
          <a:xfrm>
            <a:off x="10001707" y="3898087"/>
            <a:ext cx="1714500" cy="28346"/>
          </a:xfrm>
          <a:prstGeom prst="roundRect">
            <a:avLst>
              <a:gd name="adj" fmla="val 448035"/>
            </a:avLst>
          </a:prstGeom>
          <a:solidFill>
            <a:srgbClr val="C0C5CE"/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0105949" y="4507992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SLVR8 Hash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10116007" y="4784141"/>
            <a:ext cx="1485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"Digital Silver" unit &amp; secure hashing suite.</a:t>
            </a:r>
            <a:endParaRPr lang="en-US" sz="9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029907" y="4117543"/>
            <a:ext cx="228600" cy="228600"/>
          </a:xfrm>
          <a:prstGeom prst="rect">
            <a:avLst/>
          </a:prstGeom>
        </p:spPr>
      </p:pic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8858707" y="4117543"/>
            <a:ext cx="286207" cy="228600"/>
          </a:xfrm>
          <a:prstGeom prst="rect">
            <a:avLst/>
          </a:prstGeom>
        </p:spPr>
      </p:pic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-57" r="-57" t="0" b="0"/>
          <a:stretch/>
        </p:blipFill>
        <p:spPr>
          <a:xfrm>
            <a:off x="10758830" y="4117543"/>
            <a:ext cx="200254" cy="22860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476402" y="1276502"/>
            <a:ext cx="5429707" cy="4315054"/>
          </a:xfrm>
          <a:prstGeom prst="roundRect">
            <a:avLst>
              <a:gd name="adj" fmla="val 149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813048" y="881482"/>
            <a:ext cx="2572207" cy="2572207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57454" y="2956255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Satoshi Nakamoto, 2008 Whitepaper</a:t>
            </a:r>
            <a:endParaRPr lang="en-US" sz="10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71754" y="4928616"/>
            <a:ext cx="304495" cy="3044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190549" y="4874666"/>
            <a:ext cx="1470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Bitcoin Network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1190549" y="5103266"/>
            <a:ext cx="14429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 of Work (PoW)</a:t>
            </a:r>
            <a:endParaRPr lang="en-US" sz="90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2127" b="-2127"/>
          <a:stretch/>
        </p:blipFill>
        <p:spPr>
          <a:xfrm>
            <a:off x="3606394" y="4890211"/>
            <a:ext cx="9144" cy="38130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4657039" y="4874666"/>
            <a:ext cx="962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Established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4565599" y="5057546"/>
            <a:ext cx="10543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 3, 2009</a:t>
            </a:r>
            <a:endParaRPr lang="en-US" sz="1200" dirty="0"/>
          </a:p>
        </p:txBody>
      </p:sp>
      <p:sp>
        <p:nvSpPr>
          <p:cNvPr id="42" name="Text 31"/>
          <p:cNvSpPr txBox="1"/>
          <p:nvPr/>
        </p:nvSpPr>
        <p:spPr>
          <a:xfrm>
            <a:off x="771754" y="1570939"/>
            <a:ext cx="4919472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"A purely peer-to-peer version of electronic cash would allow online payments to be sent directly from one party to another without going through a financial institution."</a:t>
            </a:r>
            <a:endParaRPr lang="en-US" sz="1600" dirty="0"/>
          </a:p>
        </p:txBody>
      </p:sp>
      <p:sp>
        <p:nvSpPr>
          <p:cNvPr id="43" name="Shape 32"/>
          <p:cNvSpPr/>
          <p:nvPr/>
        </p:nvSpPr>
        <p:spPr>
          <a:xfrm>
            <a:off x="771754" y="3448202"/>
            <a:ext cx="4839005" cy="1238098"/>
          </a:xfrm>
          <a:prstGeom prst="rect">
            <a:avLst/>
          </a:prstGeom>
          <a:solidFill>
            <a:srgbClr val="0A1628">
              <a:alpha val="60000"/>
            </a:srgbClr>
          </a:solidFill>
          <a:ln/>
        </p:spPr>
      </p:sp>
      <p:sp>
        <p:nvSpPr>
          <p:cNvPr id="44" name="Shape 33"/>
          <p:cNvSpPr/>
          <p:nvPr/>
        </p:nvSpPr>
        <p:spPr>
          <a:xfrm>
            <a:off x="771754" y="3448202"/>
            <a:ext cx="28346" cy="123809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45" name="Text 34"/>
          <p:cNvSpPr txBox="1"/>
          <p:nvPr/>
        </p:nvSpPr>
        <p:spPr>
          <a:xfrm>
            <a:off x="990295" y="3590849"/>
            <a:ext cx="45436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Core Innovation</a:t>
            </a:r>
            <a:endParaRPr lang="en-US" sz="1300" dirty="0"/>
          </a:p>
        </p:txBody>
      </p:sp>
      <p:sp>
        <p:nvSpPr>
          <p:cNvPr id="46" name="Text 35"/>
          <p:cNvSpPr txBox="1"/>
          <p:nvPr/>
        </p:nvSpPr>
        <p:spPr>
          <a:xfrm>
            <a:off x="990295" y="3889858"/>
            <a:ext cx="45061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Solving the "double-spend" problem not with a central bank, but with a decentralized, timestamped ledger shared by all participants.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402" y="1420063"/>
            <a:ext cx="11239805" cy="9144"/>
          </a:xfrm>
          <a:prstGeom prst="rect">
            <a:avLst/>
          </a:prstGeom>
          <a:solidFill>
            <a:srgbClr val="C0C5CE">
              <a:alpha val="20000"/>
            </a:srgbClr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6402" y="381305"/>
            <a:ext cx="37344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Veritas + SLVR8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76402" y="1000354"/>
            <a:ext cx="366400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9B9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Architecture Blueprint &amp; Consensus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189159" y="977494"/>
            <a:ext cx="1533449" cy="304495"/>
          </a:xfrm>
          <a:prstGeom prst="roundRect">
            <a:avLst>
              <a:gd name="adj" fmla="val 75075"/>
            </a:avLst>
          </a:prstGeom>
          <a:solidFill>
            <a:srgbClr val="4A9B9F">
              <a:alpha val="10000"/>
            </a:srgbClr>
          </a:solidFill>
          <a:ln w="12700">
            <a:solidFill>
              <a:srgbClr val="4A9B9F">
                <a:alpha val="3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89159" y="977494"/>
            <a:ext cx="1595628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50800" rIns="1016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v0.2 SPECIFICATION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34402" y="1712671"/>
            <a:ext cx="4381805" cy="533095"/>
          </a:xfrm>
          <a:prstGeom prst="roundRect">
            <a:avLst>
              <a:gd name="adj" fmla="val 61260"/>
            </a:avLst>
          </a:prstGeom>
          <a:solidFill>
            <a:srgbClr val="4A9B9F">
              <a:alpha val="10000"/>
            </a:srgbClr>
          </a:solidFill>
          <a:ln w="12700">
            <a:solidFill>
              <a:srgbClr val="4A9B9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34656" y="1876349"/>
            <a:ext cx="14502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Block Time Target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777679" y="186537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1.0s (Launch: 2.0s)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34402" y="2388413"/>
            <a:ext cx="4381805" cy="533095"/>
          </a:xfrm>
          <a:prstGeom prst="roundRect">
            <a:avLst>
              <a:gd name="adj" fmla="val 61260"/>
            </a:avLst>
          </a:prstGeom>
          <a:solidFill>
            <a:srgbClr val="4A9B9F">
              <a:alpha val="10000"/>
            </a:srgbClr>
          </a:solidFill>
          <a:ln w="12700">
            <a:solidFill>
              <a:srgbClr val="4A9B9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34656" y="2553005"/>
            <a:ext cx="13670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Throughput (TPS)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875874" y="2541118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10,000+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34402" y="3065069"/>
            <a:ext cx="4381805" cy="533095"/>
          </a:xfrm>
          <a:prstGeom prst="roundRect">
            <a:avLst>
              <a:gd name="adj" fmla="val 61260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34656" y="3228746"/>
            <a:ext cx="136885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Consensus Engine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143439" y="3217774"/>
            <a:ext cx="1457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BFT Round-Based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34402" y="3741725"/>
            <a:ext cx="4381805" cy="533095"/>
          </a:xfrm>
          <a:prstGeom prst="roundRect">
            <a:avLst>
              <a:gd name="adj" fmla="val 61260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4656" y="3905402"/>
            <a:ext cx="10433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Finality Type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594799" y="3893515"/>
            <a:ext cx="20016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Instant Deterministic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34402" y="4417466"/>
            <a:ext cx="4381805" cy="533095"/>
          </a:xfrm>
          <a:prstGeom prst="roundRect">
            <a:avLst>
              <a:gd name="adj" fmla="val 61260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34656" y="4581144"/>
            <a:ext cx="13816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Model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686239" y="4570171"/>
            <a:ext cx="1914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Epoch-Based Rotation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34402" y="5094122"/>
            <a:ext cx="4381805" cy="533095"/>
          </a:xfrm>
          <a:prstGeom prst="roundRect">
            <a:avLst>
              <a:gd name="adj" fmla="val 61260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34656" y="5257800"/>
            <a:ext cx="1619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Slashing Conditions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503359" y="5245913"/>
            <a:ext cx="21003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Double-Sign / Downtime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34402" y="5769864"/>
            <a:ext cx="4381805" cy="1248156"/>
          </a:xfrm>
          <a:prstGeom prst="roundRect">
            <a:avLst>
              <a:gd name="adj" fmla="val 11185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44054" y="5970118"/>
            <a:ext cx="38871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Security Stance (v0.2) </a:t>
            </a:r>
            <a:endParaRPr lang="en-US" sz="10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34656" y="6006694"/>
            <a:ext cx="133502" cy="133502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7534656" y="6270955"/>
            <a:ext cx="40581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PoM / AIR Attestations</a:t>
            </a:r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are strictly advisory. They enhance intent verification but are </a:t>
            </a:r>
            <a:pPr algn="l" indent="0" marL="0">
              <a:buNone/>
            </a:pPr>
            <a:r>
              <a:rPr lang="en-US" sz="1000" u="sng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non-finality-critical</a:t>
            </a:r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Consensus relies solely on cryptographic validator signatures. 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6402" y="1712671"/>
            <a:ext cx="6572707" cy="5305349"/>
          </a:xfrm>
          <a:prstGeom prst="roundRect">
            <a:avLst>
              <a:gd name="adj" fmla="val 743"/>
            </a:avLst>
          </a:prstGeom>
          <a:solidFill>
            <a:srgbClr val="F7F9FC">
              <a:alpha val="3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rcRect l="-1403" r="-1403" t="0" b="0"/>
          <a:stretch/>
        </p:blipFill>
        <p:spPr>
          <a:xfrm>
            <a:off x="724205" y="2007108"/>
            <a:ext cx="209398" cy="181051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933602" y="1960474"/>
            <a:ext cx="40827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BFT Consensus Flow (Stake-Weighted)</a:t>
            </a:r>
            <a:endParaRPr lang="en-US" sz="14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87" b="-387"/>
          <a:stretch/>
        </p:blipFill>
        <p:spPr>
          <a:xfrm>
            <a:off x="1819656" y="2812694"/>
            <a:ext cx="597103" cy="19202"/>
          </a:xfrm>
          <a:prstGeom prst="rect">
            <a:avLst/>
          </a:prstGeom>
        </p:spPr>
      </p:pic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387" b="-387"/>
          <a:stretch/>
        </p:blipFill>
        <p:spPr>
          <a:xfrm>
            <a:off x="3463747" y="2812694"/>
            <a:ext cx="597103" cy="19202"/>
          </a:xfrm>
          <a:prstGeom prst="rect">
            <a:avLst/>
          </a:prstGeom>
        </p:spPr>
      </p:pic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387" b="-387"/>
          <a:stretch/>
        </p:blipFill>
        <p:spPr>
          <a:xfrm>
            <a:off x="5108753" y="2812694"/>
            <a:ext cx="597103" cy="19202"/>
          </a:xfrm>
          <a:prstGeom prst="rect">
            <a:avLst/>
          </a:prstGeom>
        </p:spPr>
      </p:pic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6" b="-16"/>
          <a:stretch/>
        </p:blipFill>
        <p:spPr>
          <a:xfrm>
            <a:off x="724205" y="5644591"/>
            <a:ext cx="2943454" cy="112379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095451" y="5787238"/>
            <a:ext cx="25338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SLVR8 Hash Suite</a:t>
            </a:r>
            <a:endParaRPr lang="en-US" sz="11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556" b="-556"/>
          <a:stretch/>
        </p:blipFill>
        <p:spPr>
          <a:xfrm>
            <a:off x="895198" y="5824728"/>
            <a:ext cx="123444" cy="142646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895198" y="6080760"/>
            <a:ext cx="27057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v0.2 uses domain-separated SHA-256 for block IDs, QCs, validator sets, and intents. Ensures cryptographic purity.</a:t>
            </a:r>
            <a:endParaRPr lang="en-US" sz="100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6" b="-16"/>
          <a:stretch/>
        </p:blipFill>
        <p:spPr>
          <a:xfrm>
            <a:off x="3857854" y="5644591"/>
            <a:ext cx="2943454" cy="112379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4248302" y="578723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Quorum Certificate</a:t>
            </a:r>
            <a:endParaRPr lang="en-US" sz="1100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028846" y="5824728"/>
            <a:ext cx="142646" cy="142646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4028846" y="6080760"/>
            <a:ext cx="27057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Requires ≥2/3 of total voting power. Tolerates &lt; 1/3 Byzantine faults. Deterministic safety.</a:t>
            </a:r>
            <a:endParaRPr lang="en-US" sz="100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397" b="-397"/>
          <a:stretch/>
        </p:blipFill>
        <p:spPr>
          <a:xfrm>
            <a:off x="1057046" y="2674620"/>
            <a:ext cx="5410505" cy="19202"/>
          </a:xfrm>
          <a:prstGeom prst="rect">
            <a:avLst/>
          </a:prstGeom>
        </p:spPr>
      </p:pic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61949" y="2472538"/>
            <a:ext cx="666598" cy="666598"/>
          </a:xfrm>
          <a:prstGeom prst="rect">
            <a:avLst/>
          </a:prstGeom>
        </p:spPr>
      </p:pic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rcRect l="-133" r="-133" t="0" b="0"/>
          <a:stretch/>
        </p:blipFill>
        <p:spPr>
          <a:xfrm>
            <a:off x="1209751" y="2691994"/>
            <a:ext cx="171907" cy="228600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967435" y="3234233"/>
            <a:ext cx="6574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</a:t>
            </a:r>
            <a:endParaRPr lang="en-US" sz="1000" dirty="0"/>
          </a:p>
        </p:txBody>
      </p:sp>
      <p:sp>
        <p:nvSpPr>
          <p:cNvPr id="49" name="Text 35"/>
          <p:cNvSpPr txBox="1"/>
          <p:nvPr/>
        </p:nvSpPr>
        <p:spPr>
          <a:xfrm>
            <a:off x="801014" y="3488436"/>
            <a:ext cx="99486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Leader Proposal</a:t>
            </a:r>
            <a:endParaRPr lang="en-US" sz="80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2606954" y="2472538"/>
            <a:ext cx="666598" cy="666598"/>
          </a:xfrm>
          <a:prstGeom prst="rect">
            <a:avLst/>
          </a:prstGeom>
        </p:spPr>
      </p:pic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45" b="-45"/>
          <a:stretch/>
        </p:blipFill>
        <p:spPr>
          <a:xfrm>
            <a:off x="2811780" y="2691994"/>
            <a:ext cx="256946" cy="228600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2629814" y="3234233"/>
            <a:ext cx="6291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Prevote</a:t>
            </a:r>
            <a:endParaRPr lang="en-US" sz="1000" dirty="0"/>
          </a:p>
        </p:txBody>
      </p:sp>
      <p:sp>
        <p:nvSpPr>
          <p:cNvPr id="53" name="Text 37"/>
          <p:cNvSpPr txBox="1"/>
          <p:nvPr/>
        </p:nvSpPr>
        <p:spPr>
          <a:xfrm>
            <a:off x="2414016" y="3488436"/>
            <a:ext cx="106070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Check</a:t>
            </a:r>
            <a:endParaRPr lang="en-US" sz="80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251046" y="2472538"/>
            <a:ext cx="666598" cy="666598"/>
          </a:xfrm>
          <a:prstGeom prst="rect">
            <a:avLst/>
          </a:prstGeom>
        </p:spPr>
      </p:pic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6"/>
          <a:srcRect l="-57" r="-57" t="0" b="0"/>
          <a:stretch/>
        </p:blipFill>
        <p:spPr>
          <a:xfrm>
            <a:off x="4485132" y="2691994"/>
            <a:ext cx="200254" cy="228600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4150462" y="3234233"/>
            <a:ext cx="876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Precommit</a:t>
            </a:r>
            <a:endParaRPr lang="en-US" sz="1000" dirty="0"/>
          </a:p>
        </p:txBody>
      </p:sp>
      <p:sp>
        <p:nvSpPr>
          <p:cNvPr id="57" name="Text 39"/>
          <p:cNvSpPr txBox="1"/>
          <p:nvPr/>
        </p:nvSpPr>
        <p:spPr>
          <a:xfrm>
            <a:off x="4129430" y="3488436"/>
            <a:ext cx="914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Lock &amp; Quorum</a:t>
            </a:r>
            <a:endParaRPr lang="en-US" sz="800" dirty="0"/>
          </a:p>
        </p:txBody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5896051" y="2472538"/>
            <a:ext cx="666598" cy="666598"/>
          </a:xfrm>
          <a:prstGeom prst="rect">
            <a:avLst/>
          </a:prstGeom>
        </p:spPr>
      </p:pic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18"/>
          <a:srcRect l="-57" r="-57" t="0" b="0"/>
          <a:stretch/>
        </p:blipFill>
        <p:spPr>
          <a:xfrm>
            <a:off x="6129223" y="2691994"/>
            <a:ext cx="200254" cy="228600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5906110" y="3234233"/>
            <a:ext cx="6483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B9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Commit</a:t>
            </a:r>
            <a:endParaRPr lang="en-US" sz="1000" dirty="0"/>
          </a:p>
        </p:txBody>
      </p:sp>
      <p:sp>
        <p:nvSpPr>
          <p:cNvPr id="61" name="Text 41"/>
          <p:cNvSpPr txBox="1"/>
          <p:nvPr/>
        </p:nvSpPr>
        <p:spPr>
          <a:xfrm>
            <a:off x="5704027" y="3488436"/>
            <a:ext cx="10543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Finality Reached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402" y="1420063"/>
            <a:ext cx="11239805" cy="9144"/>
          </a:xfrm>
          <a:prstGeom prst="rect">
            <a:avLst/>
          </a:prstGeom>
          <a:solidFill>
            <a:srgbClr val="C0C5CE">
              <a:alpha val="20000"/>
            </a:srgbClr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6402" y="381305"/>
            <a:ext cx="893094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AIR: Automated Intelligence Responder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76402" y="1000354"/>
            <a:ext cx="80302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9B9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Interface of Spektraxa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359238" y="1046074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v0.2 PROTOTYPE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6402" y="4013302"/>
            <a:ext cx="3933749" cy="1561795"/>
          </a:xfrm>
          <a:prstGeom prst="roundRect">
            <a:avLst>
              <a:gd name="adj" fmla="val 8568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4213555"/>
            <a:ext cx="95098" cy="9509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4451299"/>
            <a:ext cx="3648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"Hello AIR"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70255" y="5716829"/>
            <a:ext cx="355427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Identity:</a:t>
            </a:r>
            <a:pPr algn="ctr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Spektraxa (EchoMind Intelligence)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94283" y="5922569"/>
            <a:ext cx="31053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Handle:</a:t>
            </a:r>
            <a:pPr algn="ctr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AIR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91456" y="1665122"/>
            <a:ext cx="3372307" cy="923544"/>
          </a:xfrm>
          <a:prstGeom prst="roundRect">
            <a:avLst>
              <a:gd name="adj" fmla="val 16332"/>
            </a:avLst>
          </a:prstGeom>
          <a:solidFill>
            <a:srgbClr val="F7F9FC">
              <a:alpha val="3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43246" y="1816913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4A9B9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43830" y="1917497"/>
            <a:ext cx="181051" cy="181051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467198" y="1816913"/>
            <a:ext cx="26453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Forecasting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67198" y="2093976"/>
            <a:ext cx="2619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resonance analysis &amp; investment scenario modeling.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348472" y="1665122"/>
            <a:ext cx="3372307" cy="923544"/>
          </a:xfrm>
          <a:prstGeom prst="roundRect">
            <a:avLst>
              <a:gd name="adj" fmla="val 16332"/>
            </a:avLst>
          </a:prstGeom>
          <a:solidFill>
            <a:srgbClr val="F7F9FC">
              <a:alpha val="3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01177" y="1816913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4A9B9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00846" y="1917497"/>
            <a:ext cx="181051" cy="181051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025128" y="1816913"/>
            <a:ext cx="26453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Treasury Ops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9025128" y="2093976"/>
            <a:ext cx="2619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preparation of transfers, staking, and yield allocation.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791456" y="2777947"/>
            <a:ext cx="3372307" cy="923544"/>
          </a:xfrm>
          <a:prstGeom prst="roundRect">
            <a:avLst>
              <a:gd name="adj" fmla="val 16332"/>
            </a:avLst>
          </a:prstGeom>
          <a:solidFill>
            <a:srgbClr val="F7F9FC">
              <a:alpha val="3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943246" y="293065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4A9B9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-1403" r="-1403" t="0" b="0"/>
          <a:stretch/>
        </p:blipFill>
        <p:spPr>
          <a:xfrm>
            <a:off x="5029200" y="3030322"/>
            <a:ext cx="209398" cy="181051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467198" y="2930652"/>
            <a:ext cx="26453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5467198" y="3206801"/>
            <a:ext cx="2619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Drafting proposals &amp; summarizing community votes.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8348472" y="2777947"/>
            <a:ext cx="3372307" cy="923544"/>
          </a:xfrm>
          <a:prstGeom prst="roundRect">
            <a:avLst>
              <a:gd name="adj" fmla="val 16332"/>
            </a:avLst>
          </a:prstGeom>
          <a:solidFill>
            <a:srgbClr val="F7F9FC">
              <a:alpha val="3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501177" y="293065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4A9B9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00846" y="3030322"/>
            <a:ext cx="181051" cy="18105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025128" y="2930652"/>
            <a:ext cx="26453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Custody Multi-factor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9025128" y="3206801"/>
            <a:ext cx="2619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PoM-attested confirmation for high-value events.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791456" y="3890772"/>
            <a:ext cx="6924751" cy="752551"/>
          </a:xfrm>
          <a:prstGeom prst="roundRect">
            <a:avLst>
              <a:gd name="adj" fmla="val 24609"/>
            </a:avLst>
          </a:prstGeom>
          <a:solidFill>
            <a:srgbClr val="F7F9FC">
              <a:alpha val="3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943246" y="4043477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4A9B9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-505" r="-505" t="0" b="0"/>
          <a:stretch/>
        </p:blipFill>
        <p:spPr>
          <a:xfrm>
            <a:off x="5020056" y="4143146"/>
            <a:ext cx="228600" cy="181051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5467198" y="4043477"/>
            <a:ext cx="6210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Metaverse Identity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5467198" y="4319626"/>
            <a:ext cx="62106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 continuity across virtual environments &amp; smart city interfaces.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1485900" y="1913839"/>
            <a:ext cx="1914754" cy="1914754"/>
          </a:xfrm>
          <a:prstGeom prst="ellipse">
            <a:avLst/>
          </a:prstGeom>
          <a:noFill/>
          <a:ln w="12700">
            <a:solidFill>
              <a:srgbClr val="4A9B9F">
                <a:alpha val="3000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656893" y="2084832"/>
            <a:ext cx="1580998" cy="1580998"/>
          </a:xfrm>
          <a:prstGeom prst="ellipse">
            <a:avLst/>
          </a:prstGeom>
          <a:noFill/>
          <a:ln w="12700">
            <a:solidFill>
              <a:srgbClr val="4A9B9F">
                <a:alpha val="30000"/>
              </a:srgb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76656" y="4798771"/>
            <a:ext cx="3648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9B9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Prepare treasury transfer...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4791456" y="4958791"/>
            <a:ext cx="6924751" cy="1524305"/>
          </a:xfrm>
          <a:prstGeom prst="roundRect">
            <a:avLst>
              <a:gd name="adj" fmla="val 8998"/>
            </a:avLst>
          </a:prstGeom>
          <a:solidFill>
            <a:srgbClr val="0A1628">
              <a:alpha val="60000"/>
            </a:srgbClr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5038344" y="4853635"/>
            <a:ext cx="1723644" cy="228600"/>
          </a:xfrm>
          <a:prstGeom prst="roundRect">
            <a:avLst>
              <a:gd name="adj" fmla="val 133333"/>
            </a:avLst>
          </a:prstGeom>
          <a:solidFill>
            <a:srgbClr val="0A1628"/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5038344" y="4853635"/>
            <a:ext cx="18004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v0.2 Trust Boundary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4981651" y="5158130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8" kern="0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 Role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4981651" y="5389474"/>
            <a:ext cx="3048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Proposer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4981651" y="5640934"/>
            <a:ext cx="3048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Advisory Only</a:t>
            </a:r>
            <a:endParaRPr lang="en-US" sz="100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182051" y="5388559"/>
            <a:ext cx="142646" cy="22860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481974" y="5158130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8" kern="0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Validator Role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8481974" y="5389474"/>
            <a:ext cx="3048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Finalizer</a:t>
            </a:r>
            <a:endParaRPr lang="en-US" sz="1300" dirty="0"/>
          </a:p>
        </p:txBody>
      </p:sp>
      <p:sp>
        <p:nvSpPr>
          <p:cNvPr id="50" name="Text 42"/>
          <p:cNvSpPr txBox="1"/>
          <p:nvPr/>
        </p:nvSpPr>
        <p:spPr>
          <a:xfrm>
            <a:off x="8481974" y="5640934"/>
            <a:ext cx="3048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Binding Consensus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5038344" y="5989320"/>
            <a:ext cx="6429146" cy="9144"/>
          </a:xfrm>
          <a:prstGeom prst="rect">
            <a:avLst/>
          </a:prstGeom>
          <a:solidFill>
            <a:srgbClr val="C0C5CE">
              <a:alpha val="10000"/>
            </a:srgbClr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038344" y="6123737"/>
            <a:ext cx="123444" cy="123444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5238598" y="5989320"/>
            <a:ext cx="57534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 of Mind (PoM) signals are optional attestations. They do </a:t>
            </a:r>
            <a:pPr algn="l" indent="0" marL="0">
              <a:buNone/>
            </a:pPr>
            <a:r>
              <a:rPr lang="en-US" sz="900" u="sng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</a:t>
            </a:r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replace quorum signatures.</a:t>
            </a:r>
            <a:endParaRPr lang="en-US" sz="900" dirty="0"/>
          </a:p>
        </p:txBody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966874" y="2393899"/>
            <a:ext cx="952805" cy="952805"/>
          </a:xfrm>
          <a:prstGeom prst="rect">
            <a:avLst/>
          </a:prstGeom>
        </p:spPr>
      </p:pic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214677" y="2641702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402" y="381305"/>
            <a:ext cx="11239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Journeys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14807" y="1000354"/>
            <a:ext cx="11163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9B9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Onboarding to Liquidity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524305" y="2322576"/>
            <a:ext cx="9144000" cy="192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1846174"/>
            <a:ext cx="2476195" cy="4000500"/>
          </a:xfrm>
          <a:prstGeom prst="roundRect">
            <a:avLst>
              <a:gd name="adj" fmla="val 3409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9402" y="2808122"/>
            <a:ext cx="381305" cy="3813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82066" y="3427171"/>
            <a:ext cx="166420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Buy Digital Assets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1754" y="4198925"/>
            <a:ext cx="95098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42746" y="4160520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 via Block/Square with full KYC compliance.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1754" y="4675327"/>
            <a:ext cx="95098" cy="9509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42746" y="4637837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Acquire CBB3, APEX, or SLVR8 on YANDEX/partners.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71754" y="5152644"/>
            <a:ext cx="95098" cy="9509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942746" y="5115154"/>
            <a:ext cx="21991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wallet custody setup.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>
            <a:alphaModFix amt="70000"/>
          </a:blip>
          <a:srcRect l="0" r="0" t="-360" b="-360"/>
          <a:stretch/>
        </p:blipFill>
        <p:spPr>
          <a:xfrm>
            <a:off x="1619402" y="3951122"/>
            <a:ext cx="381305" cy="19202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0" b="-80"/>
          <a:stretch/>
        </p:blipFill>
        <p:spPr>
          <a:xfrm>
            <a:off x="3133649" y="2474366"/>
            <a:ext cx="142646" cy="228600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571854" y="2093976"/>
            <a:ext cx="476402" cy="47640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543507" y="2093976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20" name="Shape 10"/>
          <p:cNvSpPr/>
          <p:nvPr/>
        </p:nvSpPr>
        <p:spPr>
          <a:xfrm>
            <a:off x="3429000" y="1846174"/>
            <a:ext cx="2476195" cy="4000500"/>
          </a:xfrm>
          <a:prstGeom prst="roundRect">
            <a:avLst>
              <a:gd name="adj" fmla="val 3409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3" b="-13"/>
          <a:stretch/>
        </p:blipFill>
        <p:spPr>
          <a:xfrm>
            <a:off x="4453128" y="2808122"/>
            <a:ext cx="428854" cy="381305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3876142" y="3427171"/>
            <a:ext cx="15855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Stake / Subscribe</a:t>
            </a:r>
            <a:endParaRPr lang="en-US" sz="130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629254" y="4198925"/>
            <a:ext cx="95098" cy="95098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3800246" y="4160520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Stake assets or subscribe to ERC-1155 bearer bonds.</a:t>
            </a:r>
            <a:endParaRPr lang="en-US" sz="100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629254" y="4675327"/>
            <a:ext cx="95098" cy="95098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3800246" y="4637837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Earn programmatic yield on holdings.</a:t>
            </a:r>
            <a:endParaRPr lang="en-US" sz="100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3629254" y="5152644"/>
            <a:ext cx="95098" cy="95098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3800246" y="5115154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Receive auditable receipt tokens.</a:t>
            </a:r>
            <a:endParaRPr lang="en-US" sz="1000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>
            <a:alphaModFix amt="70000"/>
          </a:blip>
          <a:srcRect l="0" r="0" t="-360" b="-360"/>
          <a:stretch/>
        </p:blipFill>
        <p:spPr>
          <a:xfrm>
            <a:off x="4476902" y="3951122"/>
            <a:ext cx="381305" cy="19202"/>
          </a:xfrm>
          <a:prstGeom prst="rect">
            <a:avLst/>
          </a:prstGeom>
        </p:spPr>
      </p:pic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80" b="-80"/>
          <a:stretch/>
        </p:blipFill>
        <p:spPr>
          <a:xfrm>
            <a:off x="5991149" y="2474366"/>
            <a:ext cx="142646" cy="228600"/>
          </a:xfrm>
          <a:prstGeom prst="rect">
            <a:avLst/>
          </a:prstGeom>
        </p:spPr>
      </p:pic>
      <p:pic>
        <p:nvPicPr>
          <p:cNvPr id="31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429354" y="2093976"/>
            <a:ext cx="476402" cy="476402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4401007" y="2093976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33" name="Shape 16"/>
          <p:cNvSpPr/>
          <p:nvPr/>
        </p:nvSpPr>
        <p:spPr>
          <a:xfrm>
            <a:off x="6286500" y="1846174"/>
            <a:ext cx="2476195" cy="4000500"/>
          </a:xfrm>
          <a:prstGeom prst="roundRect">
            <a:avLst>
              <a:gd name="adj" fmla="val 3409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pic>
        <p:nvPicPr>
          <p:cNvPr id="34" name="Image 15" descr="preencoded.png">    </p:cNvPr>
          <p:cNvPicPr>
            <a:picLocks noChangeAspect="1"/>
          </p:cNvPicPr>
          <p:nvPr/>
        </p:nvPicPr>
        <p:blipFill>
          <a:blip r:embed="rId16"/>
          <a:srcRect l="-40" r="-40" t="0" b="0"/>
          <a:stretch/>
        </p:blipFill>
        <p:spPr>
          <a:xfrm>
            <a:off x="7381951" y="2808122"/>
            <a:ext cx="286207" cy="381305"/>
          </a:xfrm>
          <a:prstGeom prst="rect">
            <a:avLst/>
          </a:prstGeom>
        </p:spPr>
      </p:pic>
      <p:sp>
        <p:nvSpPr>
          <p:cNvPr id="35" name="Text 17"/>
          <p:cNvSpPr txBox="1"/>
          <p:nvPr/>
        </p:nvSpPr>
        <p:spPr>
          <a:xfrm>
            <a:off x="6498641" y="3427171"/>
            <a:ext cx="20574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Borrow Against Bonds</a:t>
            </a:r>
            <a:endParaRPr lang="en-US" sz="1300" dirty="0"/>
          </a:p>
        </p:txBody>
      </p:sp>
      <p:pic>
        <p:nvPicPr>
          <p:cNvPr id="36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6486754" y="4198925"/>
            <a:ext cx="95098" cy="95098"/>
          </a:xfrm>
          <a:prstGeom prst="rect">
            <a:avLst/>
          </a:prstGeom>
        </p:spPr>
      </p:pic>
      <p:sp>
        <p:nvSpPr>
          <p:cNvPr id="37" name="Text 18"/>
          <p:cNvSpPr txBox="1"/>
          <p:nvPr/>
        </p:nvSpPr>
        <p:spPr>
          <a:xfrm>
            <a:off x="6657746" y="4160520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On-chain collateral value assessment.</a:t>
            </a:r>
            <a:endParaRPr lang="en-US" sz="1000" dirty="0"/>
          </a:p>
        </p:txBody>
      </p:sp>
      <p:pic>
        <p:nvPicPr>
          <p:cNvPr id="38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6486754" y="4675327"/>
            <a:ext cx="95098" cy="95098"/>
          </a:xfrm>
          <a:prstGeom prst="rect">
            <a:avLst/>
          </a:prstGeom>
        </p:spPr>
      </p:pic>
      <p:sp>
        <p:nvSpPr>
          <p:cNvPr id="39" name="Text 19"/>
          <p:cNvSpPr txBox="1"/>
          <p:nvPr/>
        </p:nvSpPr>
        <p:spPr>
          <a:xfrm>
            <a:off x="6657746" y="4637837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AIR-guided risk checks &amp; loan structuring.</a:t>
            </a:r>
            <a:endParaRPr lang="en-US" sz="1000" dirty="0"/>
          </a:p>
        </p:txBody>
      </p:sp>
      <p:pic>
        <p:nvPicPr>
          <p:cNvPr id="40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6486754" y="5152644"/>
            <a:ext cx="95098" cy="95098"/>
          </a:xfrm>
          <a:prstGeom prst="rect">
            <a:avLst/>
          </a:prstGeom>
        </p:spPr>
      </p:pic>
      <p:sp>
        <p:nvSpPr>
          <p:cNvPr id="41" name="Text 20"/>
          <p:cNvSpPr txBox="1"/>
          <p:nvPr/>
        </p:nvSpPr>
        <p:spPr>
          <a:xfrm>
            <a:off x="6657746" y="5115154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Issue stablecoin or fiat credit line instantly.</a:t>
            </a:r>
            <a:endParaRPr lang="en-US" sz="1000" dirty="0"/>
          </a:p>
        </p:txBody>
      </p:sp>
      <p:pic>
        <p:nvPicPr>
          <p:cNvPr id="42" name="Image 19" descr="preencoded.png">    </p:cNvPr>
          <p:cNvPicPr>
            <a:picLocks noChangeAspect="1"/>
          </p:cNvPicPr>
          <p:nvPr/>
        </p:nvPicPr>
        <p:blipFill>
          <a:blip r:embed="rId20">
            <a:alphaModFix amt="70000"/>
          </a:blip>
          <a:srcRect l="0" r="0" t="-360" b="-360"/>
          <a:stretch/>
        </p:blipFill>
        <p:spPr>
          <a:xfrm>
            <a:off x="7334402" y="3951122"/>
            <a:ext cx="381305" cy="19202"/>
          </a:xfrm>
          <a:prstGeom prst="rect">
            <a:avLst/>
          </a:prstGeom>
        </p:spPr>
      </p:pic>
      <p:pic>
        <p:nvPicPr>
          <p:cNvPr id="43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-80" b="-80"/>
          <a:stretch/>
        </p:blipFill>
        <p:spPr>
          <a:xfrm>
            <a:off x="8848649" y="2474366"/>
            <a:ext cx="142646" cy="228600"/>
          </a:xfrm>
          <a:prstGeom prst="rect">
            <a:avLst/>
          </a:prstGeom>
        </p:spPr>
      </p:pic>
      <p:pic>
        <p:nvPicPr>
          <p:cNvPr id="44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7286854" y="2093976"/>
            <a:ext cx="476402" cy="476402"/>
          </a:xfrm>
          <a:prstGeom prst="rect">
            <a:avLst/>
          </a:prstGeom>
        </p:spPr>
      </p:pic>
      <p:sp>
        <p:nvSpPr>
          <p:cNvPr id="45" name="Text 21"/>
          <p:cNvSpPr/>
          <p:nvPr/>
        </p:nvSpPr>
        <p:spPr>
          <a:xfrm>
            <a:off x="7258507" y="2093976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46" name="Shape 22"/>
          <p:cNvSpPr/>
          <p:nvPr/>
        </p:nvSpPr>
        <p:spPr>
          <a:xfrm>
            <a:off x="9144000" y="1846174"/>
            <a:ext cx="2476195" cy="4000500"/>
          </a:xfrm>
          <a:prstGeom prst="roundRect">
            <a:avLst>
              <a:gd name="adj" fmla="val 3409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pic>
        <p:nvPicPr>
          <p:cNvPr id="47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10191902" y="2808122"/>
            <a:ext cx="381305" cy="381305"/>
          </a:xfrm>
          <a:prstGeom prst="rect">
            <a:avLst/>
          </a:prstGeom>
        </p:spPr>
      </p:pic>
      <p:sp>
        <p:nvSpPr>
          <p:cNvPr id="48" name="Text 23"/>
          <p:cNvSpPr txBox="1"/>
          <p:nvPr/>
        </p:nvSpPr>
        <p:spPr>
          <a:xfrm>
            <a:off x="9613087" y="3427171"/>
            <a:ext cx="15462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Cash Out / Settle</a:t>
            </a:r>
            <a:endParaRPr lang="en-US" sz="1300" dirty="0"/>
          </a:p>
        </p:txBody>
      </p:sp>
      <p:pic>
        <p:nvPicPr>
          <p:cNvPr id="49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9344254" y="4198925"/>
            <a:ext cx="95098" cy="95098"/>
          </a:xfrm>
          <a:prstGeom prst="rect">
            <a:avLst/>
          </a:prstGeom>
        </p:spPr>
      </p:pic>
      <p:sp>
        <p:nvSpPr>
          <p:cNvPr id="50" name="Text 24"/>
          <p:cNvSpPr txBox="1"/>
          <p:nvPr/>
        </p:nvSpPr>
        <p:spPr>
          <a:xfrm>
            <a:off x="9515246" y="4160520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OTC or exchange unwind of positions.</a:t>
            </a:r>
            <a:endParaRPr lang="en-US" sz="1000" dirty="0"/>
          </a:p>
        </p:txBody>
      </p:sp>
      <p:pic>
        <p:nvPicPr>
          <p:cNvPr id="51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9344254" y="4675327"/>
            <a:ext cx="95098" cy="95098"/>
          </a:xfrm>
          <a:prstGeom prst="rect">
            <a:avLst/>
          </a:prstGeom>
        </p:spPr>
      </p:pic>
      <p:sp>
        <p:nvSpPr>
          <p:cNvPr id="52" name="Text 25"/>
          <p:cNvSpPr txBox="1"/>
          <p:nvPr/>
        </p:nvSpPr>
        <p:spPr>
          <a:xfrm>
            <a:off x="9515246" y="4637837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Fiat settlement via Block/Square rails.</a:t>
            </a:r>
            <a:endParaRPr lang="en-US" sz="1000" dirty="0"/>
          </a:p>
        </p:txBody>
      </p:sp>
      <p:pic>
        <p:nvPicPr>
          <p:cNvPr id="53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9344254" y="5152644"/>
            <a:ext cx="95098" cy="95098"/>
          </a:xfrm>
          <a:prstGeom prst="rect">
            <a:avLst/>
          </a:prstGeom>
        </p:spPr>
      </p:pic>
      <p:sp>
        <p:nvSpPr>
          <p:cNvPr id="54" name="Text 26"/>
          <p:cNvSpPr txBox="1"/>
          <p:nvPr/>
        </p:nvSpPr>
        <p:spPr>
          <a:xfrm>
            <a:off x="9515246" y="5115154"/>
            <a:ext cx="1981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audit trail preserved for compliance.</a:t>
            </a:r>
            <a:endParaRPr lang="en-US" sz="1000" dirty="0"/>
          </a:p>
        </p:txBody>
      </p:sp>
      <p:pic>
        <p:nvPicPr>
          <p:cNvPr id="55" name="Image 26" descr="preencoded.png">    </p:cNvPr>
          <p:cNvPicPr>
            <a:picLocks noChangeAspect="1"/>
          </p:cNvPicPr>
          <p:nvPr/>
        </p:nvPicPr>
        <p:blipFill>
          <a:blip r:embed="rId27">
            <a:alphaModFix amt="70000"/>
          </a:blip>
          <a:srcRect l="0" r="0" t="-360" b="-360"/>
          <a:stretch/>
        </p:blipFill>
        <p:spPr>
          <a:xfrm>
            <a:off x="10191902" y="3951122"/>
            <a:ext cx="381305" cy="19202"/>
          </a:xfrm>
          <a:prstGeom prst="rect">
            <a:avLst/>
          </a:prstGeom>
        </p:spPr>
      </p:pic>
      <p:pic>
        <p:nvPicPr>
          <p:cNvPr id="56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10144354" y="2093976"/>
            <a:ext cx="476402" cy="476402"/>
          </a:xfrm>
          <a:prstGeom prst="rect">
            <a:avLst/>
          </a:prstGeom>
        </p:spPr>
      </p:pic>
      <p:sp>
        <p:nvSpPr>
          <p:cNvPr id="57" name="Text 27"/>
          <p:cNvSpPr/>
          <p:nvPr/>
        </p:nvSpPr>
        <p:spPr>
          <a:xfrm>
            <a:off x="10116007" y="2093976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402" y="1420063"/>
            <a:ext cx="11239805" cy="9144"/>
          </a:xfrm>
          <a:prstGeom prst="rect">
            <a:avLst/>
          </a:prstGeom>
          <a:solidFill>
            <a:srgbClr val="C0C5CE">
              <a:alpha val="20000"/>
            </a:srgbClr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6402" y="381305"/>
            <a:ext cx="1143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Institutional &amp; Sovereign Use Cases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76402" y="1000354"/>
            <a:ext cx="113541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9B9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Enterprise-Grade Infrastructure for Global Finance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6402" y="1665122"/>
            <a:ext cx="3619195" cy="4943246"/>
          </a:xfrm>
          <a:prstGeom prst="roundRect">
            <a:avLst>
              <a:gd name="adj" fmla="val 1596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408530"/>
            <a:ext cx="3219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865376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461" r="-461" t="0" b="0"/>
          <a:stretch/>
        </p:blipFill>
        <p:spPr>
          <a:xfrm>
            <a:off x="771754" y="1974190"/>
            <a:ext cx="237744" cy="20939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48156" y="1953158"/>
            <a:ext cx="10789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Sovereigns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" y="2598725"/>
            <a:ext cx="105156" cy="1051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75995" y="2560320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Smart-City Financing: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Tokenized municipal bonds for infrastructure development.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6656" y="3056839"/>
            <a:ext cx="105156" cy="1051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75995" y="3018434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Reserve Diversification: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Secure digital asset allocation alongside traditional reserves.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" y="3514954"/>
            <a:ext cx="105156" cy="1051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75995" y="3476549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Stablecoin Rails: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Sovereign-backed stablecoin issuance (USDS) with full audit capabilities.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6656" y="3973068"/>
            <a:ext cx="105156" cy="10515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75995" y="3934663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 Systems: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Secure citizen identity management for digital services.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4286707" y="1665122"/>
            <a:ext cx="3619195" cy="2381098"/>
          </a:xfrm>
          <a:prstGeom prst="roundRect">
            <a:avLst>
              <a:gd name="adj" fmla="val 3687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4486046" y="2408530"/>
            <a:ext cx="3219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486046" y="1865376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C0C5CE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-1528" r="-1528" t="0" b="0"/>
          <a:stretch/>
        </p:blipFill>
        <p:spPr>
          <a:xfrm>
            <a:off x="4619549" y="1974190"/>
            <a:ext cx="161849" cy="20939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057546" y="1953158"/>
            <a:ext cx="120152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Institutions</a:t>
            </a:r>
            <a:endParaRPr lang="en-US" sz="13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486046" y="2598725"/>
            <a:ext cx="105156" cy="10515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686300" y="2560320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Private ETS Listings: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Compliant trading on Forge &amp; Nasdaq Private Market.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486046" y="3056839"/>
            <a:ext cx="105156" cy="10515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4686300" y="3018434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Tokenized Funds: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Fractional ownership of high-value assets.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486046" y="3514954"/>
            <a:ext cx="105156" cy="105156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4686300" y="3476549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Collateral Mobility: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Instant movement of assets across venues.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8096098" y="1665122"/>
            <a:ext cx="3619195" cy="2381098"/>
          </a:xfrm>
          <a:prstGeom prst="roundRect">
            <a:avLst>
              <a:gd name="adj" fmla="val 3687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32" name="Shape 21"/>
          <p:cNvSpPr/>
          <p:nvPr/>
        </p:nvSpPr>
        <p:spPr>
          <a:xfrm>
            <a:off x="8296351" y="2408530"/>
            <a:ext cx="3219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8296351" y="1865376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4A9B9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rcRect l="-461" r="-461" t="0" b="0"/>
          <a:stretch/>
        </p:blipFill>
        <p:spPr>
          <a:xfrm>
            <a:off x="8391449" y="1974190"/>
            <a:ext cx="237744" cy="209398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8867851" y="1953158"/>
            <a:ext cx="151150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Asset Managers</a:t>
            </a:r>
            <a:endParaRPr lang="en-US" sz="13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296351" y="2598725"/>
            <a:ext cx="105156" cy="105156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8496605" y="2560320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Cross-Venue Liquidity: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Unified liquidity access across public/private markets.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296351" y="3056839"/>
            <a:ext cx="105156" cy="105156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8496605" y="3018434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Programmable Compliance: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Rules encoded directly into asset tokens.</a:t>
            </a:r>
            <a:endParaRPr lang="en-US" sz="100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296351" y="3514954"/>
            <a:ext cx="105156" cy="105156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8496605" y="3476549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Reporting: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Real-time NAV calculation and investor reporting.</a:t>
            </a:r>
            <a:endParaRPr lang="en-US" sz="1000" dirty="0"/>
          </a:p>
        </p:txBody>
      </p:sp>
      <p:sp>
        <p:nvSpPr>
          <p:cNvPr id="42" name="Shape 27"/>
          <p:cNvSpPr/>
          <p:nvPr/>
        </p:nvSpPr>
        <p:spPr>
          <a:xfrm>
            <a:off x="4286707" y="4230014"/>
            <a:ext cx="3619195" cy="2381098"/>
          </a:xfrm>
          <a:prstGeom prst="roundRect">
            <a:avLst>
              <a:gd name="adj" fmla="val 3687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43" name="Shape 28"/>
          <p:cNvSpPr/>
          <p:nvPr/>
        </p:nvSpPr>
        <p:spPr>
          <a:xfrm>
            <a:off x="4486046" y="4973422"/>
            <a:ext cx="3219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29"/>
          <p:cNvSpPr/>
          <p:nvPr/>
        </p:nvSpPr>
        <p:spPr>
          <a:xfrm>
            <a:off x="4486046" y="4430268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4595774" y="4539082"/>
            <a:ext cx="209398" cy="209398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5057546" y="4518050"/>
            <a:ext cx="629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Banks</a:t>
            </a:r>
            <a:endParaRPr lang="en-US" sz="1300" dirty="0"/>
          </a:p>
        </p:txBody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486046" y="5163617"/>
            <a:ext cx="105156" cy="105156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4686300" y="5125212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Embedded Custody: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Secure digital asset storage integrated with banking apps.</a:t>
            </a:r>
            <a:endParaRPr lang="en-US" sz="1000" dirty="0"/>
          </a:p>
        </p:txBody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4486046" y="5621731"/>
            <a:ext cx="105156" cy="105156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4686300" y="5583326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 Collateral Calls: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Automated margin management via smart contracts.</a:t>
            </a:r>
            <a:endParaRPr lang="en-US" sz="1000" dirty="0"/>
          </a:p>
        </p:txBody>
      </p:sp>
      <p:pic>
        <p:nvPicPr>
          <p:cNvPr id="51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4486046" y="6079846"/>
            <a:ext cx="105156" cy="105156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4686300" y="6041441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BFT Finality: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Immediate settlement certainty for interbank transfers.</a:t>
            </a:r>
            <a:endParaRPr lang="en-US" sz="1000" dirty="0"/>
          </a:p>
        </p:txBody>
      </p:sp>
      <p:sp>
        <p:nvSpPr>
          <p:cNvPr id="53" name="Shape 34"/>
          <p:cNvSpPr/>
          <p:nvPr/>
        </p:nvSpPr>
        <p:spPr>
          <a:xfrm>
            <a:off x="8096098" y="4230014"/>
            <a:ext cx="3619195" cy="2381098"/>
          </a:xfrm>
          <a:prstGeom prst="roundRect">
            <a:avLst>
              <a:gd name="adj" fmla="val 3687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54" name="Shape 35"/>
          <p:cNvSpPr/>
          <p:nvPr/>
        </p:nvSpPr>
        <p:spPr>
          <a:xfrm>
            <a:off x="8296351" y="4973422"/>
            <a:ext cx="3219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36"/>
          <p:cNvSpPr/>
          <p:nvPr/>
        </p:nvSpPr>
        <p:spPr>
          <a:xfrm>
            <a:off x="8296351" y="4430268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17" descr="preencoded.png">    </p:cNvPr>
          <p:cNvPicPr>
            <a:picLocks noChangeAspect="1"/>
          </p:cNvPicPr>
          <p:nvPr/>
        </p:nvPicPr>
        <p:blipFill>
          <a:blip r:embed="rId18"/>
          <a:srcRect l="-1528" r="-1528" t="0" b="0"/>
          <a:stretch/>
        </p:blipFill>
        <p:spPr>
          <a:xfrm>
            <a:off x="8429854" y="4539082"/>
            <a:ext cx="161849" cy="209398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8867851" y="4518050"/>
            <a:ext cx="1124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</a:t>
            </a:r>
            <a:endParaRPr lang="en-US" sz="1300" dirty="0"/>
          </a:p>
        </p:txBody>
      </p:sp>
      <p:pic>
        <p:nvPicPr>
          <p:cNvPr id="58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8296351" y="5163617"/>
            <a:ext cx="105156" cy="105156"/>
          </a:xfrm>
          <a:prstGeom prst="rect">
            <a:avLst/>
          </a:prstGeom>
        </p:spPr>
      </p:pic>
      <p:sp>
        <p:nvSpPr>
          <p:cNvPr id="59" name="Text 38"/>
          <p:cNvSpPr txBox="1"/>
          <p:nvPr/>
        </p:nvSpPr>
        <p:spPr>
          <a:xfrm>
            <a:off x="8496605" y="5125212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KYC/AML On-Ramps: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Integrated identity verification for all participants.</a:t>
            </a:r>
            <a:endParaRPr lang="en-US" sz="1000" dirty="0"/>
          </a:p>
        </p:txBody>
      </p:sp>
      <p:pic>
        <p:nvPicPr>
          <p:cNvPr id="60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8296351" y="5621731"/>
            <a:ext cx="105156" cy="105156"/>
          </a:xfrm>
          <a:prstGeom prst="rect">
            <a:avLst/>
          </a:prstGeom>
        </p:spPr>
      </p:pic>
      <p:sp>
        <p:nvSpPr>
          <p:cNvPr id="61" name="Text 39"/>
          <p:cNvSpPr txBox="1"/>
          <p:nvPr/>
        </p:nvSpPr>
        <p:spPr>
          <a:xfrm>
            <a:off x="8496605" y="5583326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Verifiable Reserves: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Cryptographic proof of assets backing tokens.</a:t>
            </a:r>
            <a:endParaRPr lang="en-US" sz="1000" dirty="0"/>
          </a:p>
        </p:txBody>
      </p:sp>
      <p:pic>
        <p:nvPicPr>
          <p:cNvPr id="62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8296351" y="6079846"/>
            <a:ext cx="105156" cy="105156"/>
          </a:xfrm>
          <a:prstGeom prst="rect">
            <a:avLst/>
          </a:prstGeom>
        </p:spPr>
      </p:pic>
      <p:sp>
        <p:nvSpPr>
          <p:cNvPr id="63" name="Text 40"/>
          <p:cNvSpPr txBox="1"/>
          <p:nvPr/>
        </p:nvSpPr>
        <p:spPr>
          <a:xfrm>
            <a:off x="8496605" y="6041441"/>
            <a:ext cx="30961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 Handling: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Immutable logging of validator behavior for slashing.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402" y="1420063"/>
            <a:ext cx="11239805" cy="9144"/>
          </a:xfrm>
          <a:prstGeom prst="rect">
            <a:avLst/>
          </a:prstGeom>
          <a:solidFill>
            <a:srgbClr val="C0C5CE">
              <a:alpha val="20000"/>
            </a:srgbClr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6402" y="381305"/>
            <a:ext cx="1143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 &amp; Adoption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76402" y="1000354"/>
            <a:ext cx="113541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9B9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Translating Finance to Digital Assets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6402" y="1712671"/>
            <a:ext cx="5971946" cy="6172200"/>
          </a:xfrm>
          <a:prstGeom prst="roundRect">
            <a:avLst>
              <a:gd name="adj" fmla="val 586"/>
            </a:avLst>
          </a:prstGeom>
          <a:solidFill>
            <a:srgbClr val="F7F9FC">
              <a:alpha val="3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2007" y="1960474"/>
            <a:ext cx="53437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LegacyShield Curriculum 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724205" y="2008937"/>
            <a:ext cx="247802" cy="2002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24205" y="2686507"/>
            <a:ext cx="5429707" cy="9144"/>
          </a:xfrm>
          <a:prstGeom prst="rect">
            <a:avLst/>
          </a:prstGeom>
          <a:solidFill>
            <a:srgbClr val="D4AF37">
              <a:alpha val="20000"/>
            </a:srgbClr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4205" y="2447849"/>
            <a:ext cx="55440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1" kern="0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Foundations (Modules 1-5)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24205" y="2766060"/>
            <a:ext cx="5429707" cy="409651"/>
          </a:xfrm>
          <a:prstGeom prst="roundRect">
            <a:avLst>
              <a:gd name="adj" fmla="val 62292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24205" y="2766060"/>
            <a:ext cx="28346" cy="409651"/>
          </a:xfrm>
          <a:prstGeom prst="roundRect">
            <a:avLst>
              <a:gd name="adj" fmla="val 90023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5198" y="2878531"/>
            <a:ext cx="314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248156" y="2861158"/>
            <a:ext cx="35871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Wealth Administration &amp; Trust Structures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4205" y="3230575"/>
            <a:ext cx="5429707" cy="409651"/>
          </a:xfrm>
          <a:prstGeom prst="roundRect">
            <a:avLst>
              <a:gd name="adj" fmla="val 62292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24205" y="3230575"/>
            <a:ext cx="28346" cy="409651"/>
          </a:xfrm>
          <a:prstGeom prst="roundRect">
            <a:avLst>
              <a:gd name="adj" fmla="val 90023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5198" y="3343046"/>
            <a:ext cx="314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248156" y="3326587"/>
            <a:ext cx="31967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Asset Protection &amp; Stacking Strategy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4205" y="3696005"/>
            <a:ext cx="5429707" cy="409651"/>
          </a:xfrm>
          <a:prstGeom prst="roundRect">
            <a:avLst>
              <a:gd name="adj" fmla="val 62292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24205" y="3696005"/>
            <a:ext cx="28346" cy="409651"/>
          </a:xfrm>
          <a:prstGeom prst="roundRect">
            <a:avLst>
              <a:gd name="adj" fmla="val 90023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5198" y="3808476"/>
            <a:ext cx="314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248156" y="3791102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Banking Relationships &amp; Business Building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24205" y="4608576"/>
            <a:ext cx="5429707" cy="9144"/>
          </a:xfrm>
          <a:prstGeom prst="rect">
            <a:avLst/>
          </a:prstGeom>
          <a:solidFill>
            <a:srgbClr val="D4AF37">
              <a:alpha val="20000"/>
            </a:srgbClr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4205" y="4369918"/>
            <a:ext cx="55440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1" kern="0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Strategies (Modules 6-10)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24205" y="4688129"/>
            <a:ext cx="5429707" cy="409651"/>
          </a:xfrm>
          <a:prstGeom prst="roundRect">
            <a:avLst>
              <a:gd name="adj" fmla="val 62292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724205" y="4688129"/>
            <a:ext cx="28346" cy="409651"/>
          </a:xfrm>
          <a:prstGeom prst="roundRect">
            <a:avLst>
              <a:gd name="adj" fmla="val 90023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95198" y="4800600"/>
            <a:ext cx="314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248156" y="4783226"/>
            <a:ext cx="31491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Bridging Corporate Finance &amp; Crypto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24205" y="5152644"/>
            <a:ext cx="5429707" cy="409651"/>
          </a:xfrm>
          <a:prstGeom prst="roundRect">
            <a:avLst>
              <a:gd name="adj" fmla="val 62292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724205" y="5152644"/>
            <a:ext cx="28346" cy="409651"/>
          </a:xfrm>
          <a:prstGeom prst="roundRect">
            <a:avLst>
              <a:gd name="adj" fmla="val 90023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95198" y="5265115"/>
            <a:ext cx="314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248156" y="5248656"/>
            <a:ext cx="288218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Tokenomics &amp; Wealth Applications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24205" y="5618074"/>
            <a:ext cx="5429707" cy="409651"/>
          </a:xfrm>
          <a:prstGeom prst="roundRect">
            <a:avLst>
              <a:gd name="adj" fmla="val 62292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724205" y="5618074"/>
            <a:ext cx="28346" cy="409651"/>
          </a:xfrm>
          <a:prstGeom prst="roundRect">
            <a:avLst>
              <a:gd name="adj" fmla="val 90023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95198" y="5730545"/>
            <a:ext cx="314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248156" y="5713171"/>
            <a:ext cx="2958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Wealth: Optimization &amp; Risk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24205" y="6530645"/>
            <a:ext cx="5429707" cy="9144"/>
          </a:xfrm>
          <a:prstGeom prst="rect">
            <a:avLst/>
          </a:prstGeom>
          <a:solidFill>
            <a:srgbClr val="D4AF37">
              <a:alpha val="20000"/>
            </a:srgbClr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24205" y="6291986"/>
            <a:ext cx="55440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1" kern="0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Sustainability &amp; Legacy (Modules 11-15)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24205" y="6610198"/>
            <a:ext cx="5429707" cy="409651"/>
          </a:xfrm>
          <a:prstGeom prst="roundRect">
            <a:avLst>
              <a:gd name="adj" fmla="val 62292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724205" y="6610198"/>
            <a:ext cx="28346" cy="409651"/>
          </a:xfrm>
          <a:prstGeom prst="roundRect">
            <a:avLst>
              <a:gd name="adj" fmla="val 90023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95198" y="6722669"/>
            <a:ext cx="314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1248156" y="6705295"/>
            <a:ext cx="2788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Conservation Assets &amp; Preserves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24205" y="7074713"/>
            <a:ext cx="5429707" cy="409651"/>
          </a:xfrm>
          <a:prstGeom prst="roundRect">
            <a:avLst>
              <a:gd name="adj" fmla="val 62292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724205" y="7074713"/>
            <a:ext cx="28346" cy="409651"/>
          </a:xfrm>
          <a:prstGeom prst="roundRect">
            <a:avLst>
              <a:gd name="adj" fmla="val 90023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95198" y="7187184"/>
            <a:ext cx="314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1248156" y="7170725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Investing &amp; Social Good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6829654" y="1712671"/>
            <a:ext cx="50008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Accessible Analogies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6829654" y="2057400"/>
            <a:ext cx="50008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Making complex technology understandable for leaders.</a:t>
            </a:r>
            <a:endParaRPr lang="en-US" sz="1000" dirty="0"/>
          </a:p>
        </p:txBody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8" b="-28"/>
          <a:stretch/>
        </p:blipFill>
        <p:spPr>
          <a:xfrm>
            <a:off x="6829654" y="7139635"/>
            <a:ext cx="4886554" cy="743407"/>
          </a:xfrm>
          <a:prstGeom prst="rect">
            <a:avLst/>
          </a:prstGeom>
        </p:spPr>
      </p:pic>
      <p:sp>
        <p:nvSpPr>
          <p:cNvPr id="51" name="Text 47"/>
          <p:cNvSpPr txBox="1"/>
          <p:nvPr/>
        </p:nvSpPr>
        <p:spPr>
          <a:xfrm>
            <a:off x="7010705" y="7283196"/>
            <a:ext cx="4638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7F9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"Leaders understand ledgers, hashes, keys, and programmable assets—without the jargon."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>
            <a:off x="6829654" y="2644445"/>
            <a:ext cx="4886554" cy="2009851"/>
          </a:xfrm>
          <a:prstGeom prst="roundRect">
            <a:avLst>
              <a:gd name="adj" fmla="val 5175"/>
            </a:avLst>
          </a:prstGeom>
          <a:solidFill>
            <a:srgbClr val="0A1628">
              <a:alpha val="50000"/>
            </a:srgbClr>
          </a:solidFill>
          <a:ln w="12700">
            <a:solidFill>
              <a:srgbClr val="4A9B9F">
                <a:alpha val="20000"/>
              </a:srgbClr>
            </a:solidFill>
            <a:prstDash val="solid"/>
          </a:ln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0" r="0" t="0" b="0"/>
          <a:stretch/>
        </p:blipFill>
        <p:spPr>
          <a:xfrm>
            <a:off x="10496398" y="3434486"/>
            <a:ext cx="1399946" cy="1399946"/>
          </a:xfrm>
          <a:prstGeom prst="rect">
            <a:avLst/>
          </a:prstGeom>
        </p:spPr>
      </p:pic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03159" y="2939796"/>
            <a:ext cx="304495" cy="304495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6987845" y="3367735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IBM System/360</a:t>
            </a:r>
            <a:endParaRPr lang="en-US" sz="1000" dirty="0"/>
          </a:p>
        </p:txBody>
      </p:sp>
      <p:sp>
        <p:nvSpPr>
          <p:cNvPr id="56" name="Text 50"/>
          <p:cNvSpPr txBox="1"/>
          <p:nvPr/>
        </p:nvSpPr>
        <p:spPr>
          <a:xfrm>
            <a:off x="6987845" y="3621938"/>
            <a:ext cx="21396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computing architecture</a:t>
            </a:r>
            <a:endParaRPr lang="en-US" sz="900" dirty="0"/>
          </a:p>
        </p:txBody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158630" y="3240634"/>
            <a:ext cx="228600" cy="228600"/>
          </a:xfrm>
          <a:prstGeom prst="rect">
            <a:avLst/>
          </a:prstGeom>
        </p:spPr>
      </p:pic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rcRect l="-50" r="-50" t="0" b="0"/>
          <a:stretch/>
        </p:blipFill>
        <p:spPr>
          <a:xfrm>
            <a:off x="10318090" y="2939796"/>
            <a:ext cx="342900" cy="304495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9421978" y="3367735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Veritas Chain</a:t>
            </a:r>
            <a:endParaRPr lang="en-US" sz="1000" dirty="0"/>
          </a:p>
        </p:txBody>
      </p:sp>
      <p:sp>
        <p:nvSpPr>
          <p:cNvPr id="60" name="Text 52"/>
          <p:cNvSpPr txBox="1"/>
          <p:nvPr/>
        </p:nvSpPr>
        <p:spPr>
          <a:xfrm>
            <a:off x="9387230" y="3621938"/>
            <a:ext cx="22082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ledger &amp; contract state</a:t>
            </a:r>
            <a:endParaRPr lang="en-US" sz="900" dirty="0"/>
          </a:p>
        </p:txBody>
      </p:sp>
      <p:sp>
        <p:nvSpPr>
          <p:cNvPr id="61" name="Shape 53"/>
          <p:cNvSpPr/>
          <p:nvPr/>
        </p:nvSpPr>
        <p:spPr>
          <a:xfrm>
            <a:off x="6829654" y="4892040"/>
            <a:ext cx="4886554" cy="2009851"/>
          </a:xfrm>
          <a:prstGeom prst="roundRect">
            <a:avLst>
              <a:gd name="adj" fmla="val 5175"/>
            </a:avLst>
          </a:prstGeom>
          <a:solidFill>
            <a:srgbClr val="0A1628">
              <a:alpha val="50000"/>
            </a:srgbClr>
          </a:solidFill>
          <a:ln w="12700">
            <a:solidFill>
              <a:srgbClr val="4A9B9F">
                <a:alpha val="20000"/>
              </a:srgbClr>
            </a:solidFill>
            <a:prstDash val="solid"/>
          </a:ln>
        </p:spPr>
      </p:sp>
      <p:pic>
        <p:nvPicPr>
          <p:cNvPr id="62" name="Image 6" descr="preencoded.png">    </p:cNvPr>
          <p:cNvPicPr>
            <a:picLocks noChangeAspect="1"/>
          </p:cNvPicPr>
          <p:nvPr/>
        </p:nvPicPr>
        <p:blipFill>
          <a:blip r:embed="rId7">
            <a:alphaModFix amt="5000"/>
          </a:blip>
          <a:srcRect l="0" r="0" t="0" b="0"/>
          <a:stretch/>
        </p:blipFill>
        <p:spPr>
          <a:xfrm>
            <a:off x="10496398" y="5682996"/>
            <a:ext cx="1399946" cy="1399946"/>
          </a:xfrm>
          <a:prstGeom prst="rect">
            <a:avLst/>
          </a:prstGeom>
        </p:spPr>
      </p:pic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903159" y="5187391"/>
            <a:ext cx="304495" cy="304495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6987845" y="5616245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Hearing Aid DSP</a:t>
            </a:r>
            <a:endParaRPr lang="en-US" sz="1000" dirty="0"/>
          </a:p>
        </p:txBody>
      </p:sp>
      <p:sp>
        <p:nvSpPr>
          <p:cNvPr id="65" name="Text 55"/>
          <p:cNvSpPr txBox="1"/>
          <p:nvPr/>
        </p:nvSpPr>
        <p:spPr>
          <a:xfrm>
            <a:off x="6991502" y="5869534"/>
            <a:ext cx="21342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processing made human-scale</a:t>
            </a:r>
            <a:endParaRPr lang="en-US" sz="900" dirty="0"/>
          </a:p>
        </p:txBody>
      </p:sp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158630" y="5562295"/>
            <a:ext cx="228600" cy="228600"/>
          </a:xfrm>
          <a:prstGeom prst="rect">
            <a:avLst/>
          </a:prstGeom>
        </p:spPr>
      </p:pic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rcRect l="-90" r="-90" t="0" b="0"/>
          <a:stretch/>
        </p:blipFill>
        <p:spPr>
          <a:xfrm>
            <a:off x="10298887" y="5261458"/>
            <a:ext cx="381305" cy="304495"/>
          </a:xfrm>
          <a:prstGeom prst="rect">
            <a:avLst/>
          </a:prstGeom>
        </p:spPr>
      </p:pic>
      <p:sp>
        <p:nvSpPr>
          <p:cNvPr id="68" name="Text 56"/>
          <p:cNvSpPr txBox="1"/>
          <p:nvPr/>
        </p:nvSpPr>
        <p:spPr>
          <a:xfrm>
            <a:off x="9421978" y="5690311"/>
            <a:ext cx="2139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Distributed Compute</a:t>
            </a:r>
            <a:endParaRPr lang="en-US" sz="1000" dirty="0"/>
          </a:p>
        </p:txBody>
      </p:sp>
      <p:sp>
        <p:nvSpPr>
          <p:cNvPr id="69" name="Text 57"/>
          <p:cNvSpPr txBox="1"/>
          <p:nvPr/>
        </p:nvSpPr>
        <p:spPr>
          <a:xfrm>
            <a:off x="9267444" y="5943600"/>
            <a:ext cx="2448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Powerful, wearable, intuitive utility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402" y="1420063"/>
            <a:ext cx="11239805" cy="9144"/>
          </a:xfrm>
          <a:prstGeom prst="rect">
            <a:avLst/>
          </a:prstGeom>
          <a:solidFill>
            <a:srgbClr val="C0C5CE">
              <a:alpha val="20000"/>
            </a:srgbClr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6402" y="381305"/>
            <a:ext cx="7040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to Veritas/SLVR8 v0.2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76402" y="1000354"/>
            <a:ext cx="63724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9B9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Launch to Frozen Testnet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806026" y="954634"/>
            <a:ext cx="1914754" cy="323698"/>
          </a:xfrm>
          <a:prstGeom prst="roundRect">
            <a:avLst>
              <a:gd name="adj" fmla="val 66467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82174" y="954634"/>
            <a:ext cx="171541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Target: 2026-06-21 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2838" r="-2838" t="0" b="0"/>
          <a:stretch/>
        </p:blipFill>
        <p:spPr>
          <a:xfrm>
            <a:off x="9958730" y="1047902"/>
            <a:ext cx="123444" cy="133502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476402" y="4061765"/>
            <a:ext cx="11239805" cy="1920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6402" y="2356409"/>
            <a:ext cx="2667305" cy="3619195"/>
          </a:xfrm>
          <a:prstGeom prst="roundRect">
            <a:avLst>
              <a:gd name="adj" fmla="val 2938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76656" y="3119018"/>
            <a:ext cx="22667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76656" y="2556662"/>
            <a:ext cx="23582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1: Foundation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" y="2845613"/>
            <a:ext cx="23582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Apr 10, 2026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6656" y="3312871"/>
            <a:ext cx="95098" cy="9509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7649" y="3265322"/>
            <a:ext cx="2221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Wire format &amp; types finalized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" y="3570732"/>
            <a:ext cx="95098" cy="9509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7649" y="3523183"/>
            <a:ext cx="21717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SLVR8 hashing suite implementation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6656" y="4009644"/>
            <a:ext cx="95098" cy="9509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47649" y="3962095"/>
            <a:ext cx="12929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test vectors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76656" y="5433365"/>
            <a:ext cx="2266798" cy="342900"/>
          </a:xfrm>
          <a:prstGeom prst="roundRect">
            <a:avLst>
              <a:gd name="adj" fmla="val 88889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780898" y="5547665"/>
            <a:ext cx="142646" cy="1143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000354" y="5433365"/>
            <a:ext cx="16550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 Integrations (Block)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3333902" y="2737714"/>
            <a:ext cx="2667305" cy="3619195"/>
          </a:xfrm>
          <a:prstGeom prst="roundRect">
            <a:avLst>
              <a:gd name="adj" fmla="val 2938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3534156" y="3499409"/>
            <a:ext cx="22667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3534156" y="2937053"/>
            <a:ext cx="23582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2: Consensus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3534156" y="3226918"/>
            <a:ext cx="23582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May 10, 2026</a:t>
            </a:r>
            <a:endParaRPr lang="en-US" sz="9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534156" y="3694176"/>
            <a:ext cx="95098" cy="9509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705149" y="3645713"/>
            <a:ext cx="1484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Validator loop logic</a:t>
            </a:r>
            <a:endParaRPr lang="en-US" sz="10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534156" y="3951122"/>
            <a:ext cx="95098" cy="9509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3705149" y="3903574"/>
            <a:ext cx="17702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QC verification module</a:t>
            </a:r>
            <a:endParaRPr lang="en-US" sz="10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534156" y="4208983"/>
            <a:ext cx="95098" cy="9509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3705149" y="4161434"/>
            <a:ext cx="20930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Slashing evidence handling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3534156" y="5813755"/>
            <a:ext cx="2266798" cy="342900"/>
          </a:xfrm>
          <a:prstGeom prst="roundRect">
            <a:avLst>
              <a:gd name="adj" fmla="val 88889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-133" r="-133" t="0" b="0"/>
          <a:stretch/>
        </p:blipFill>
        <p:spPr>
          <a:xfrm>
            <a:off x="3638398" y="5928055"/>
            <a:ext cx="85954" cy="114300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3800246" y="5813755"/>
            <a:ext cx="14292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Private ETS Onboarding</a:t>
            </a:r>
            <a:endParaRPr lang="en-US" sz="900" dirty="0"/>
          </a:p>
        </p:txBody>
      </p:sp>
      <p:sp>
        <p:nvSpPr>
          <p:cNvPr id="37" name="Shape 25"/>
          <p:cNvSpPr/>
          <p:nvPr/>
        </p:nvSpPr>
        <p:spPr>
          <a:xfrm>
            <a:off x="6191402" y="2356409"/>
            <a:ext cx="2667305" cy="3619195"/>
          </a:xfrm>
          <a:prstGeom prst="roundRect">
            <a:avLst>
              <a:gd name="adj" fmla="val 2938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6391656" y="3119018"/>
            <a:ext cx="22667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7"/>
          <p:cNvSpPr txBox="1"/>
          <p:nvPr/>
        </p:nvSpPr>
        <p:spPr>
          <a:xfrm>
            <a:off x="6391656" y="2556662"/>
            <a:ext cx="23582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3: Intelligence</a:t>
            </a:r>
            <a:endParaRPr lang="en-US" sz="1300" dirty="0"/>
          </a:p>
        </p:txBody>
      </p:sp>
      <p:sp>
        <p:nvSpPr>
          <p:cNvPr id="40" name="Text 28"/>
          <p:cNvSpPr txBox="1"/>
          <p:nvPr/>
        </p:nvSpPr>
        <p:spPr>
          <a:xfrm>
            <a:off x="6391656" y="2845613"/>
            <a:ext cx="23582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Jun 05, 2026</a:t>
            </a:r>
            <a:endParaRPr lang="en-US" sz="9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391656" y="3312871"/>
            <a:ext cx="95098" cy="95098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6562649" y="3265322"/>
            <a:ext cx="17684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 session integration</a:t>
            </a:r>
            <a:endParaRPr lang="en-US" sz="10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391656" y="3570732"/>
            <a:ext cx="95098" cy="95098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6562649" y="3523183"/>
            <a:ext cx="16440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PoM attestation layer</a:t>
            </a:r>
            <a:endParaRPr lang="en-US" sz="10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391656" y="3827678"/>
            <a:ext cx="95098" cy="95098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6562649" y="3780130"/>
            <a:ext cx="12920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Devnet hardening</a:t>
            </a:r>
            <a:endParaRPr lang="en-US" sz="1000" dirty="0"/>
          </a:p>
        </p:txBody>
      </p:sp>
      <p:sp>
        <p:nvSpPr>
          <p:cNvPr id="47" name="Shape 32"/>
          <p:cNvSpPr/>
          <p:nvPr/>
        </p:nvSpPr>
        <p:spPr>
          <a:xfrm>
            <a:off x="6391656" y="5433365"/>
            <a:ext cx="2266798" cy="342900"/>
          </a:xfrm>
          <a:prstGeom prst="roundRect">
            <a:avLst>
              <a:gd name="adj" fmla="val 88889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6495898" y="5547665"/>
            <a:ext cx="114300" cy="114300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6687007" y="5433365"/>
            <a:ext cx="9811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Sovereign Pilots</a:t>
            </a:r>
            <a:endParaRPr lang="en-US" sz="900" dirty="0"/>
          </a:p>
        </p:txBody>
      </p:sp>
      <p:sp>
        <p:nvSpPr>
          <p:cNvPr id="50" name="Shape 34"/>
          <p:cNvSpPr/>
          <p:nvPr/>
        </p:nvSpPr>
        <p:spPr>
          <a:xfrm>
            <a:off x="9048902" y="2737714"/>
            <a:ext cx="2667305" cy="3619195"/>
          </a:xfrm>
          <a:prstGeom prst="roundRect">
            <a:avLst>
              <a:gd name="adj" fmla="val 2938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51" name="Shape 35"/>
          <p:cNvSpPr/>
          <p:nvPr/>
        </p:nvSpPr>
        <p:spPr>
          <a:xfrm>
            <a:off x="9249156" y="3499409"/>
            <a:ext cx="22667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6"/>
          <p:cNvSpPr txBox="1"/>
          <p:nvPr/>
        </p:nvSpPr>
        <p:spPr>
          <a:xfrm>
            <a:off x="9249156" y="2937053"/>
            <a:ext cx="23582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4: Freeze</a:t>
            </a:r>
            <a:endParaRPr lang="en-US" sz="1300" dirty="0"/>
          </a:p>
        </p:txBody>
      </p:sp>
      <p:sp>
        <p:nvSpPr>
          <p:cNvPr id="53" name="Text 37"/>
          <p:cNvSpPr txBox="1"/>
          <p:nvPr/>
        </p:nvSpPr>
        <p:spPr>
          <a:xfrm>
            <a:off x="9249156" y="3226918"/>
            <a:ext cx="23582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Jun 21, 2026</a:t>
            </a:r>
            <a:endParaRPr lang="en-US" sz="90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9249156" y="3694176"/>
            <a:ext cx="95098" cy="95098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9420149" y="3645713"/>
            <a:ext cx="1484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Frozen v0.2 Testnet</a:t>
            </a:r>
            <a:endParaRPr lang="en-US" sz="1000" dirty="0"/>
          </a:p>
        </p:txBody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9249156" y="3951122"/>
            <a:ext cx="95098" cy="95098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9420149" y="3903574"/>
            <a:ext cx="14282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pack release</a:t>
            </a:r>
            <a:endParaRPr lang="en-US" sz="1000" dirty="0"/>
          </a:p>
        </p:txBody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9249156" y="4208983"/>
            <a:ext cx="95098" cy="95098"/>
          </a:xfrm>
          <a:prstGeom prst="rect">
            <a:avLst/>
          </a:prstGeom>
        </p:spPr>
      </p:pic>
      <p:sp>
        <p:nvSpPr>
          <p:cNvPr id="59" name="Text 40"/>
          <p:cNvSpPr txBox="1"/>
          <p:nvPr/>
        </p:nvSpPr>
        <p:spPr>
          <a:xfrm>
            <a:off x="9420149" y="4161434"/>
            <a:ext cx="1484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Regulator briefings</a:t>
            </a:r>
            <a:endParaRPr lang="en-US" sz="1000" dirty="0"/>
          </a:p>
        </p:txBody>
      </p:sp>
      <p:sp>
        <p:nvSpPr>
          <p:cNvPr id="60" name="Shape 41"/>
          <p:cNvSpPr/>
          <p:nvPr/>
        </p:nvSpPr>
        <p:spPr>
          <a:xfrm>
            <a:off x="9249156" y="5813755"/>
            <a:ext cx="2266798" cy="342900"/>
          </a:xfrm>
          <a:prstGeom prst="roundRect">
            <a:avLst>
              <a:gd name="adj" fmla="val 88889"/>
            </a:avLst>
          </a:prstGeom>
          <a:solidFill>
            <a:srgbClr val="D4AF37">
              <a:alpha val="20000"/>
            </a:srgbClr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61" name="Image 17" descr="preencoded.png">    </p:cNvPr>
          <p:cNvPicPr>
            <a:picLocks noChangeAspect="1"/>
          </p:cNvPicPr>
          <p:nvPr/>
        </p:nvPicPr>
        <p:blipFill>
          <a:blip r:embed="rId18"/>
          <a:srcRect l="-1911" r="-1911" t="0" b="0"/>
          <a:stretch/>
        </p:blipFill>
        <p:spPr>
          <a:xfrm>
            <a:off x="9353398" y="5928055"/>
            <a:ext cx="133502" cy="114300"/>
          </a:xfrm>
          <a:prstGeom prst="rect">
            <a:avLst/>
          </a:prstGeom>
        </p:spPr>
      </p:pic>
      <p:sp>
        <p:nvSpPr>
          <p:cNvPr id="62" name="Text 42"/>
          <p:cNvSpPr txBox="1"/>
          <p:nvPr/>
        </p:nvSpPr>
        <p:spPr>
          <a:xfrm>
            <a:off x="9562795" y="5813755"/>
            <a:ext cx="9336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v0.2 Readiness</a:t>
            </a:r>
            <a:endParaRPr lang="en-US" sz="900" dirty="0"/>
          </a:p>
        </p:txBody>
      </p:sp>
      <p:pic>
        <p:nvPicPr>
          <p:cNvPr id="63" name="Image 18" descr="preencoded.png">    </p:cNvPr>
          <p:cNvPicPr>
            <a:picLocks noChangeAspect="1"/>
          </p:cNvPicPr>
          <p:nvPr/>
        </p:nvPicPr>
        <p:blipFill>
          <a:blip r:embed="rId19"/>
          <a:srcRect l="-342" r="-342" t="0" b="0"/>
          <a:stretch/>
        </p:blipFill>
        <p:spPr>
          <a:xfrm>
            <a:off x="1809598" y="5966460"/>
            <a:ext cx="19202" cy="400507"/>
          </a:xfrm>
          <a:prstGeom prst="rect">
            <a:avLst/>
          </a:prstGeom>
        </p:spPr>
      </p:pic>
      <p:pic>
        <p:nvPicPr>
          <p:cNvPr id="64" name="Image 19" descr="preencoded.png">    </p:cNvPr>
          <p:cNvPicPr>
            <a:picLocks noChangeAspect="1"/>
          </p:cNvPicPr>
          <p:nvPr/>
        </p:nvPicPr>
        <p:blipFill>
          <a:blip r:embed="rId20"/>
          <a:srcRect l="-342" r="-342" t="0" b="0"/>
          <a:stretch/>
        </p:blipFill>
        <p:spPr>
          <a:xfrm>
            <a:off x="4667098" y="2347265"/>
            <a:ext cx="19202" cy="400507"/>
          </a:xfrm>
          <a:prstGeom prst="rect">
            <a:avLst/>
          </a:prstGeom>
        </p:spPr>
      </p:pic>
      <p:pic>
        <p:nvPicPr>
          <p:cNvPr id="65" name="Image 20" descr="preencoded.png">    </p:cNvPr>
          <p:cNvPicPr>
            <a:picLocks noChangeAspect="1"/>
          </p:cNvPicPr>
          <p:nvPr/>
        </p:nvPicPr>
        <p:blipFill>
          <a:blip r:embed="rId21"/>
          <a:srcRect l="-342" r="-342" t="0" b="0"/>
          <a:stretch/>
        </p:blipFill>
        <p:spPr>
          <a:xfrm>
            <a:off x="7524598" y="5966460"/>
            <a:ext cx="19202" cy="400507"/>
          </a:xfrm>
          <a:prstGeom prst="rect">
            <a:avLst/>
          </a:prstGeom>
        </p:spPr>
      </p:pic>
      <p:pic>
        <p:nvPicPr>
          <p:cNvPr id="66" name="Image 21" descr="preencoded.png">    </p:cNvPr>
          <p:cNvPicPr>
            <a:picLocks noChangeAspect="1"/>
          </p:cNvPicPr>
          <p:nvPr/>
        </p:nvPicPr>
        <p:blipFill>
          <a:blip r:embed="rId22"/>
          <a:srcRect l="-342" r="-342" t="0" b="0"/>
          <a:stretch/>
        </p:blipFill>
        <p:spPr>
          <a:xfrm>
            <a:off x="10382098" y="2347265"/>
            <a:ext cx="19202" cy="400507"/>
          </a:xfrm>
          <a:prstGeom prst="rect">
            <a:avLst/>
          </a:prstGeom>
        </p:spPr>
      </p:pic>
      <p:sp>
        <p:nvSpPr>
          <p:cNvPr id="67" name="Shape 43"/>
          <p:cNvSpPr/>
          <p:nvPr/>
        </p:nvSpPr>
        <p:spPr>
          <a:xfrm>
            <a:off x="1733702" y="6290158"/>
            <a:ext cx="152705" cy="152705"/>
          </a:xfrm>
          <a:prstGeom prst="ellipse">
            <a:avLst/>
          </a:prstGeom>
          <a:solidFill>
            <a:srgbClr val="0A1628"/>
          </a:solidFill>
          <a:ln w="38100">
            <a:solidFill>
              <a:srgbClr val="4A9B9F"/>
            </a:solidFill>
            <a:prstDash val="solid"/>
          </a:ln>
        </p:spPr>
      </p:sp>
      <p:sp>
        <p:nvSpPr>
          <p:cNvPr id="68" name="Shape 44"/>
          <p:cNvSpPr/>
          <p:nvPr/>
        </p:nvSpPr>
        <p:spPr>
          <a:xfrm>
            <a:off x="4591202" y="2270455"/>
            <a:ext cx="152705" cy="152705"/>
          </a:xfrm>
          <a:prstGeom prst="ellipse">
            <a:avLst/>
          </a:prstGeom>
          <a:solidFill>
            <a:srgbClr val="0A1628"/>
          </a:solidFill>
          <a:ln w="38100">
            <a:solidFill>
              <a:srgbClr val="4A9B9F"/>
            </a:solidFill>
            <a:prstDash val="solid"/>
          </a:ln>
        </p:spPr>
      </p:sp>
      <p:sp>
        <p:nvSpPr>
          <p:cNvPr id="69" name="Shape 45"/>
          <p:cNvSpPr/>
          <p:nvPr/>
        </p:nvSpPr>
        <p:spPr>
          <a:xfrm>
            <a:off x="7448702" y="6290158"/>
            <a:ext cx="152705" cy="152705"/>
          </a:xfrm>
          <a:prstGeom prst="ellipse">
            <a:avLst/>
          </a:prstGeom>
          <a:solidFill>
            <a:srgbClr val="0A1628"/>
          </a:solidFill>
          <a:ln w="38100">
            <a:solidFill>
              <a:srgbClr val="4A9B9F"/>
            </a:solidFill>
            <a:prstDash val="solid"/>
          </a:ln>
        </p:spPr>
      </p:sp>
      <p:pic>
        <p:nvPicPr>
          <p:cNvPr id="70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10306202" y="2270455"/>
            <a:ext cx="152705" cy="152705"/>
          </a:xfrm>
          <a:prstGeom prst="rect">
            <a:avLst/>
          </a:prstGeom>
        </p:spPr>
      </p:pic>
      <p:pic>
        <p:nvPicPr>
          <p:cNvPr id="71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-1020" b="-1020"/>
          <a:stretch/>
        </p:blipFill>
        <p:spPr>
          <a:xfrm>
            <a:off x="-84125" y="3912718"/>
            <a:ext cx="1123798" cy="323698"/>
          </a:xfrm>
          <a:prstGeom prst="rect">
            <a:avLst/>
          </a:prstGeom>
        </p:spPr>
      </p:pic>
      <p:sp>
        <p:nvSpPr>
          <p:cNvPr id="72" name="Text 46"/>
          <p:cNvSpPr/>
          <p:nvPr/>
        </p:nvSpPr>
        <p:spPr>
          <a:xfrm>
            <a:off x="-112471" y="3912718"/>
            <a:ext cx="11814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 03-21</a:t>
            </a:r>
            <a:endParaRPr lang="en-US" sz="900" dirty="0"/>
          </a:p>
        </p:txBody>
      </p:sp>
      <p:pic>
        <p:nvPicPr>
          <p:cNvPr id="73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-117" b="-117"/>
          <a:stretch/>
        </p:blipFill>
        <p:spPr>
          <a:xfrm>
            <a:off x="11248949" y="3920033"/>
            <a:ext cx="942746" cy="304495"/>
          </a:xfrm>
          <a:prstGeom prst="rect">
            <a:avLst/>
          </a:prstGeom>
        </p:spPr>
      </p:pic>
      <p:sp>
        <p:nvSpPr>
          <p:cNvPr id="74" name="Text 47"/>
          <p:cNvSpPr/>
          <p:nvPr/>
        </p:nvSpPr>
        <p:spPr>
          <a:xfrm>
            <a:off x="11219688" y="3920033"/>
            <a:ext cx="10003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v0.2 LIVE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402" y="1420063"/>
            <a:ext cx="11239805" cy="9144"/>
          </a:xfrm>
          <a:prstGeom prst="rect">
            <a:avLst/>
          </a:prstGeom>
          <a:solidFill>
            <a:srgbClr val="C0C5CE">
              <a:alpha val="20000"/>
            </a:srgbClr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6402" y="381305"/>
            <a:ext cx="1143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Partnership Ecosystem &amp; Capital Plan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76402" y="1000354"/>
            <a:ext cx="113541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9B9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Strategic Alliances Fueling Growth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7454" y="1665122"/>
            <a:ext cx="65059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4" kern="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Strategic Partners 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4247" r="-4247" t="0" b="0"/>
          <a:stretch/>
        </p:blipFill>
        <p:spPr>
          <a:xfrm>
            <a:off x="476402" y="1700784"/>
            <a:ext cx="181051" cy="13350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6402" y="2061058"/>
            <a:ext cx="3219602" cy="1628546"/>
          </a:xfrm>
          <a:prstGeom prst="roundRect">
            <a:avLst>
              <a:gd name="adj" fmla="val 6567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9107" y="2519172"/>
            <a:ext cx="29151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9107" y="2213762"/>
            <a:ext cx="11247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Savvy Capital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57677" y="2237537"/>
            <a:ext cx="181051" cy="1810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9107" y="2623414"/>
            <a:ext cx="3029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$50M Investment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29107" y="2894076"/>
            <a:ext cx="29910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SLVR8 integration &amp; liquidity provision via LiquidGold platform.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834079" y="2061058"/>
            <a:ext cx="3219602" cy="1628546"/>
          </a:xfrm>
          <a:prstGeom prst="roundRect">
            <a:avLst>
              <a:gd name="adj" fmla="val 6567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985870" y="2519172"/>
            <a:ext cx="29151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985870" y="2213762"/>
            <a:ext cx="8668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JPMorgan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15354" y="2237537"/>
            <a:ext cx="181051" cy="1810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85870" y="2623414"/>
            <a:ext cx="3029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$83M Allocation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3985870" y="2894076"/>
            <a:ext cx="29910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Fueling MK MANAGEMENT platform with private banking tools.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76402" y="3826764"/>
            <a:ext cx="3219602" cy="1628546"/>
          </a:xfrm>
          <a:prstGeom prst="roundRect">
            <a:avLst>
              <a:gd name="adj" fmla="val 6567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9107" y="4283964"/>
            <a:ext cx="29151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29107" y="3978554"/>
            <a:ext cx="12198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Block / Square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357677" y="4002329"/>
            <a:ext cx="181051" cy="18105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29107" y="4388206"/>
            <a:ext cx="3029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629107" y="4658868"/>
            <a:ext cx="29910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Fiat conversion, payments rails, and scalable compute.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834079" y="3826764"/>
            <a:ext cx="3219602" cy="1628546"/>
          </a:xfrm>
          <a:prstGeom prst="roundRect">
            <a:avLst>
              <a:gd name="adj" fmla="val 6567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985870" y="4283964"/>
            <a:ext cx="29151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3985870" y="3978554"/>
            <a:ext cx="195224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Forge &amp; Nasdaq Private</a:t>
            </a:r>
            <a:endParaRPr lang="en-US" sz="12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15354" y="4002329"/>
            <a:ext cx="181051" cy="18105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985870" y="4388206"/>
            <a:ext cx="3029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Access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3985870" y="4658868"/>
            <a:ext cx="29910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Private ETS rails for compliant secondary market liquidity.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76402" y="5591556"/>
            <a:ext cx="6572707" cy="886054"/>
          </a:xfrm>
          <a:prstGeom prst="roundRect">
            <a:avLst>
              <a:gd name="adj" fmla="val 22193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76656" y="5919826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DCIA &amp; YANDEX</a:t>
            </a:r>
            <a:endParaRPr lang="en-US" sz="12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347265" y="5943600"/>
            <a:ext cx="181051" cy="181051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2527402" y="5864047"/>
            <a:ext cx="9144" cy="3429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2726741" y="5864047"/>
            <a:ext cx="4201668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Oversight protocol integration and decentralized exchange connectivity for seamless asset flow.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7334402" y="1665122"/>
            <a:ext cx="4381805" cy="4819802"/>
          </a:xfrm>
          <a:prstGeom prst="roundRect">
            <a:avLst>
              <a:gd name="adj" fmla="val 1089"/>
            </a:avLst>
          </a:prstGeom>
          <a:solidFill>
            <a:srgbClr val="0A1628">
              <a:alpha val="40000"/>
            </a:srgbClr>
          </a:solidFill>
          <a:ln w="12700">
            <a:solidFill>
              <a:srgbClr val="4A9B9F">
                <a:alpha val="20000"/>
              </a:srgbClr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7696505" y="1912925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4" kern="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Capital Instruments </a:t>
            </a:r>
            <a:endParaRPr lang="en-US" sz="10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rcRect l="-7078" r="-7078" t="0" b="0"/>
          <a:stretch/>
        </p:blipFill>
        <p:spPr>
          <a:xfrm>
            <a:off x="7582205" y="1948586"/>
            <a:ext cx="114300" cy="133502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7582205" y="5688482"/>
            <a:ext cx="3886200" cy="9144"/>
          </a:xfrm>
          <a:prstGeom prst="rect">
            <a:avLst/>
          </a:prstGeom>
          <a:solidFill>
            <a:srgbClr val="C0C5CE">
              <a:alpha val="10000"/>
            </a:srgbClr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7543800" y="5840273"/>
            <a:ext cx="39630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"Capital instruments bridge traditional private equity with digital asset liquidity."</a:t>
            </a:r>
            <a:endParaRPr lang="en-US" sz="100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5" b="-5"/>
          <a:stretch/>
        </p:blipFill>
        <p:spPr>
          <a:xfrm>
            <a:off x="7582205" y="2356409"/>
            <a:ext cx="3886200" cy="1339596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10604297" y="2499055"/>
            <a:ext cx="724205" cy="219456"/>
          </a:xfrm>
          <a:prstGeom prst="roundRect">
            <a:avLst>
              <a:gd name="adj" fmla="val 144928"/>
            </a:avLst>
          </a:prstGeom>
          <a:solidFill>
            <a:srgbClr val="4A9B9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10604297" y="2499055"/>
            <a:ext cx="78181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9B9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Now</a:t>
            </a:r>
            <a:endParaRPr lang="en-US" sz="800" dirty="0"/>
          </a:p>
        </p:txBody>
      </p:sp>
      <p:sp>
        <p:nvSpPr>
          <p:cNvPr id="46" name="Text 36"/>
          <p:cNvSpPr txBox="1"/>
          <p:nvPr/>
        </p:nvSpPr>
        <p:spPr>
          <a:xfrm>
            <a:off x="7935163" y="2499055"/>
            <a:ext cx="350489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SCBMSCBB3 Bond</a:t>
            </a:r>
            <a:endParaRPr lang="en-US" sz="1300" dirty="0"/>
          </a:p>
        </p:txBody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763256" y="2539289"/>
            <a:ext cx="171907" cy="171907"/>
          </a:xfrm>
          <a:prstGeom prst="rect">
            <a:avLst/>
          </a:prstGeom>
        </p:spPr>
      </p:pic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rcRect l="-53354" r="-53354" t="0" b="0"/>
          <a:stretch/>
        </p:blipFill>
        <p:spPr>
          <a:xfrm>
            <a:off x="7763256" y="2872130"/>
            <a:ext cx="190195" cy="105156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7953451" y="2827325"/>
            <a:ext cx="173461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Private Reg D Offering</a:t>
            </a:r>
            <a:endParaRPr lang="en-US" sz="1000" dirty="0"/>
          </a:p>
        </p:txBody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rcRect l="-94696" r="-94696" t="0" b="0"/>
          <a:stretch/>
        </p:blipFill>
        <p:spPr>
          <a:xfrm>
            <a:off x="7763256" y="3113532"/>
            <a:ext cx="190195" cy="105156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7953451" y="3068726"/>
            <a:ext cx="14849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 Price: </a:t>
            </a:r>
            <a:pPr algn="l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$10,000</a:t>
            </a:r>
            <a:endParaRPr lang="en-US" sz="1000" dirty="0"/>
          </a:p>
        </p:txBody>
      </p:sp>
      <p:sp>
        <p:nvSpPr>
          <p:cNvPr id="52" name="Text 39"/>
          <p:cNvSpPr txBox="1"/>
          <p:nvPr/>
        </p:nvSpPr>
        <p:spPr>
          <a:xfrm>
            <a:off x="8651138" y="3078785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$10,000</a:t>
            </a:r>
            <a:endParaRPr lang="en-US" sz="1000" dirty="0"/>
          </a:p>
        </p:txBody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rcRect l="-40435" r="-40435" t="0" b="0"/>
          <a:stretch/>
        </p:blipFill>
        <p:spPr>
          <a:xfrm>
            <a:off x="7763256" y="3355848"/>
            <a:ext cx="190195" cy="105156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7953451" y="3311042"/>
            <a:ext cx="13697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 Web Access</a:t>
            </a:r>
            <a:endParaRPr lang="en-US" sz="100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5" b="-5"/>
          <a:stretch/>
        </p:blipFill>
        <p:spPr>
          <a:xfrm>
            <a:off x="7582205" y="3886200"/>
            <a:ext cx="3886200" cy="1339596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10543946" y="4028846"/>
            <a:ext cx="780898" cy="219456"/>
          </a:xfrm>
          <a:prstGeom prst="roundRect">
            <a:avLst>
              <a:gd name="adj" fmla="val 144928"/>
            </a:avLst>
          </a:prstGeom>
          <a:solidFill>
            <a:srgbClr val="4A9B9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2"/>
          <p:cNvSpPr txBox="1"/>
          <p:nvPr/>
        </p:nvSpPr>
        <p:spPr>
          <a:xfrm>
            <a:off x="10543946" y="4028846"/>
            <a:ext cx="838505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9B9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Upcoming</a:t>
            </a:r>
            <a:endParaRPr lang="en-US" sz="800" dirty="0"/>
          </a:p>
        </p:txBody>
      </p:sp>
      <p:sp>
        <p:nvSpPr>
          <p:cNvPr id="58" name="Text 43"/>
          <p:cNvSpPr txBox="1"/>
          <p:nvPr/>
        </p:nvSpPr>
        <p:spPr>
          <a:xfrm>
            <a:off x="7953451" y="4028846"/>
            <a:ext cx="34866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Utility Tokens</a:t>
            </a:r>
            <a:endParaRPr lang="en-US" sz="1300" dirty="0"/>
          </a:p>
        </p:txBody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842" b="-842"/>
          <a:stretch/>
        </p:blipFill>
        <p:spPr>
          <a:xfrm>
            <a:off x="7763256" y="4069080"/>
            <a:ext cx="190195" cy="171907"/>
          </a:xfrm>
          <a:prstGeom prst="rect">
            <a:avLst/>
          </a:prstGeom>
        </p:spPr>
      </p:pic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rcRect l="-40435" r="-40435" t="0" b="0"/>
          <a:stretch/>
        </p:blipFill>
        <p:spPr>
          <a:xfrm>
            <a:off x="7763256" y="4401922"/>
            <a:ext cx="190195" cy="105156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7953451" y="4357116"/>
            <a:ext cx="1666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Convertible Structure</a:t>
            </a:r>
            <a:endParaRPr lang="en-US" sz="1000" dirty="0"/>
          </a:p>
        </p:txBody>
      </p:sp>
      <p:pic>
        <p:nvPicPr>
          <p:cNvPr id="62" name="Image 15" descr="preencoded.png">    </p:cNvPr>
          <p:cNvPicPr>
            <a:picLocks noChangeAspect="1"/>
          </p:cNvPicPr>
          <p:nvPr/>
        </p:nvPicPr>
        <p:blipFill>
          <a:blip r:embed="rId16"/>
          <a:srcRect l="-53354" r="-53354" t="0" b="0"/>
          <a:stretch/>
        </p:blipFill>
        <p:spPr>
          <a:xfrm>
            <a:off x="7763256" y="4643323"/>
            <a:ext cx="190195" cy="105156"/>
          </a:xfrm>
          <a:prstGeom prst="rect">
            <a:avLst/>
          </a:prstGeom>
        </p:spPr>
      </p:pic>
      <p:sp>
        <p:nvSpPr>
          <p:cNvPr id="63" name="Text 45"/>
          <p:cNvSpPr txBox="1"/>
          <p:nvPr/>
        </p:nvSpPr>
        <p:spPr>
          <a:xfrm>
            <a:off x="7953451" y="4598518"/>
            <a:ext cx="15197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</a:t>
            </a:r>
            <a:pPr algn="l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$SLVR</a:t>
            </a:r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at Release</a:t>
            </a:r>
            <a:endParaRPr lang="en-US" sz="1000" dirty="0"/>
          </a:p>
        </p:txBody>
      </p:sp>
      <p:sp>
        <p:nvSpPr>
          <p:cNvPr id="64" name="Text 46"/>
          <p:cNvSpPr txBox="1"/>
          <p:nvPr/>
        </p:nvSpPr>
        <p:spPr>
          <a:xfrm>
            <a:off x="8135417" y="4608576"/>
            <a:ext cx="4672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$SLVR</a:t>
            </a:r>
            <a:endParaRPr lang="en-US" sz="1000" dirty="0"/>
          </a:p>
        </p:txBody>
      </p:sp>
      <p:pic>
        <p:nvPicPr>
          <p:cNvPr id="65" name="Image 16" descr="preencoded.png">    </p:cNvPr>
          <p:cNvPicPr>
            <a:picLocks noChangeAspect="1"/>
          </p:cNvPicPr>
          <p:nvPr/>
        </p:nvPicPr>
        <p:blipFill>
          <a:blip r:embed="rId17"/>
          <a:srcRect l="-53354" r="-53354" t="0" b="0"/>
          <a:stretch/>
        </p:blipFill>
        <p:spPr>
          <a:xfrm>
            <a:off x="7763256" y="4885639"/>
            <a:ext cx="190195" cy="105156"/>
          </a:xfrm>
          <a:prstGeom prst="rect">
            <a:avLst/>
          </a:prstGeom>
        </p:spPr>
      </p:pic>
      <p:sp>
        <p:nvSpPr>
          <p:cNvPr id="66" name="Text 47"/>
          <p:cNvSpPr txBox="1"/>
          <p:nvPr/>
        </p:nvSpPr>
        <p:spPr>
          <a:xfrm>
            <a:off x="7953451" y="4840834"/>
            <a:ext cx="2095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Vesting Aligned to Roadmap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6232550"/>
            <a:ext cx="11048695" cy="9144"/>
          </a:xfrm>
          <a:prstGeom prst="rect">
            <a:avLst/>
          </a:prstGeom>
          <a:solidFill>
            <a:srgbClr val="C0C5CE">
              <a:alpha val="10000"/>
            </a:srgbClr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63240" y="6468466"/>
            <a:ext cx="133502" cy="1335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196742" y="6432804"/>
            <a:ext cx="127924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hello@otfz.shop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79899" y="6468466"/>
            <a:ext cx="133502" cy="1335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13402" y="6432804"/>
            <a:ext cx="15343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outthefreezer.shop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2512" r="-2512" t="0" b="0"/>
          <a:stretch/>
        </p:blipFill>
        <p:spPr>
          <a:xfrm>
            <a:off x="6494983" y="6468466"/>
            <a:ext cx="105156" cy="1335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599225" y="6432804"/>
            <a:ext cx="301569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C5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outthefreezer.square.site/whitepaper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571500" y="1515161"/>
            <a:ext cx="11048695" cy="9144"/>
          </a:xfrm>
          <a:prstGeom prst="rect">
            <a:avLst/>
          </a:prstGeom>
          <a:solidFill>
            <a:srgbClr val="C0C5CE">
              <a:alpha val="20000"/>
            </a:srgbClr>
          </a:solidFill>
          <a:ln w="12700">
            <a:solidFill>
              <a:srgbClr val="C0C5CE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76402" y="381305"/>
            <a:ext cx="11239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Ask &amp; Next Steps</a:t>
            </a:r>
            <a:endParaRPr lang="en-US" sz="3300" dirty="0"/>
          </a:p>
        </p:txBody>
      </p:sp>
      <p:sp>
        <p:nvSpPr>
          <p:cNvPr id="13" name="Text 8"/>
          <p:cNvSpPr txBox="1"/>
          <p:nvPr/>
        </p:nvSpPr>
        <p:spPr>
          <a:xfrm>
            <a:off x="514807" y="1068934"/>
            <a:ext cx="111639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A9B9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Join the Frozen Universe Ecosystem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71500" y="1804111"/>
            <a:ext cx="3524098" cy="4143146"/>
          </a:xfrm>
          <a:prstGeom prst="roundRect">
            <a:avLst>
              <a:gd name="adj" fmla="val 1683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04" b="-404"/>
          <a:stretch/>
        </p:blipFill>
        <p:spPr>
          <a:xfrm>
            <a:off x="580644" y="1813255"/>
            <a:ext cx="3504895" cy="3840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19302" y="2087575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2746" y="2211934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38351" y="2051914"/>
            <a:ext cx="24862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Opportunities</a:t>
            </a:r>
            <a:endParaRPr lang="en-US" sz="14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9302" y="2838298"/>
            <a:ext cx="123444" cy="12344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57046" y="2790749"/>
            <a:ext cx="29032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EchoMind Core ($10M)</a:t>
            </a:r>
            <a:endParaRPr lang="en-US" sz="1100" dirty="0"/>
          </a:p>
        </p:txBody>
      </p:sp>
      <p:sp>
        <p:nvSpPr>
          <p:cNvPr id="21" name="Text 13"/>
          <p:cNvSpPr txBox="1"/>
          <p:nvPr/>
        </p:nvSpPr>
        <p:spPr>
          <a:xfrm>
            <a:off x="1057046" y="3036722"/>
            <a:ext cx="28675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Funding for development, SolutionsPro integration, and Wealth Resonance module.</a:t>
            </a:r>
            <a:endParaRPr lang="en-US" sz="10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9302" y="3770986"/>
            <a:ext cx="123444" cy="12344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057046" y="3723437"/>
            <a:ext cx="29032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Partnerships</a:t>
            </a:r>
            <a:endParaRPr lang="en-US" sz="1100" dirty="0"/>
          </a:p>
        </p:txBody>
      </p:sp>
      <p:sp>
        <p:nvSpPr>
          <p:cNvPr id="24" name="Text 15"/>
          <p:cNvSpPr txBox="1"/>
          <p:nvPr/>
        </p:nvSpPr>
        <p:spPr>
          <a:xfrm>
            <a:off x="1057046" y="3969410"/>
            <a:ext cx="28675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Openings for liquidity provision, qualified custody, and private ETS listing partners.</a:t>
            </a:r>
            <a:endParaRPr lang="en-US" sz="10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9302" y="4522622"/>
            <a:ext cx="123444" cy="123444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057046" y="4475074"/>
            <a:ext cx="29032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Sovereign &amp; Institution Pilots</a:t>
            </a:r>
            <a:endParaRPr lang="en-US" sz="1100" dirty="0"/>
          </a:p>
        </p:txBody>
      </p:sp>
      <p:sp>
        <p:nvSpPr>
          <p:cNvPr id="27" name="Text 17"/>
          <p:cNvSpPr txBox="1"/>
          <p:nvPr/>
        </p:nvSpPr>
        <p:spPr>
          <a:xfrm>
            <a:off x="1057046" y="4721047"/>
            <a:ext cx="28675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Smart-city financing models and reserve tokenization trials.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819302" y="5084064"/>
            <a:ext cx="30294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1345082" y="5397703"/>
            <a:ext cx="19842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Explore Capital Options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4334256" y="1804111"/>
            <a:ext cx="3524098" cy="4143146"/>
          </a:xfrm>
          <a:prstGeom prst="roundRect">
            <a:avLst>
              <a:gd name="adj" fmla="val 1683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04" b="-404"/>
          <a:stretch/>
        </p:blipFill>
        <p:spPr>
          <a:xfrm>
            <a:off x="4343400" y="1813255"/>
            <a:ext cx="3504895" cy="38405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4581144" y="2051914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4A9B9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rcRect l="-80" r="-80" t="0" b="0"/>
          <a:stretch/>
        </p:blipFill>
        <p:spPr>
          <a:xfrm>
            <a:off x="4677156" y="2175358"/>
            <a:ext cx="286207" cy="22860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5201107" y="2152498"/>
            <a:ext cx="1914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 Steps</a:t>
            </a:r>
            <a:endParaRPr lang="en-US" sz="14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581144" y="2766060"/>
            <a:ext cx="123444" cy="123444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4819802" y="2718511"/>
            <a:ext cx="29032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 Diligence Workshop</a:t>
            </a:r>
            <a:endParaRPr lang="en-US" sz="1100" dirty="0"/>
          </a:p>
        </p:txBody>
      </p:sp>
      <p:sp>
        <p:nvSpPr>
          <p:cNvPr id="37" name="Text 24"/>
          <p:cNvSpPr txBox="1"/>
          <p:nvPr/>
        </p:nvSpPr>
        <p:spPr>
          <a:xfrm>
            <a:off x="4819802" y="2964485"/>
            <a:ext cx="28675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dive into governance, security architecture, and compliance frameworks.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581144" y="3517697"/>
            <a:ext cx="123444" cy="123444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4819802" y="3470148"/>
            <a:ext cx="29032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Resources</a:t>
            </a:r>
            <a:endParaRPr lang="en-US" sz="1100" dirty="0"/>
          </a:p>
        </p:txBody>
      </p:sp>
      <p:sp>
        <p:nvSpPr>
          <p:cNvPr id="40" name="Text 26"/>
          <p:cNvSpPr txBox="1"/>
          <p:nvPr/>
        </p:nvSpPr>
        <p:spPr>
          <a:xfrm>
            <a:off x="4819802" y="3715207"/>
            <a:ext cx="28675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full whitepaper, technical documentation, and LegacyShield curriculum.</a:t>
            </a:r>
            <a:endParaRPr lang="en-US" sz="100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581144" y="4450385"/>
            <a:ext cx="123444" cy="123444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4819802" y="4402836"/>
            <a:ext cx="29032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Request Platform Demo</a:t>
            </a:r>
            <a:endParaRPr lang="en-US" sz="1100" dirty="0"/>
          </a:p>
        </p:txBody>
      </p:sp>
      <p:sp>
        <p:nvSpPr>
          <p:cNvPr id="43" name="Text 28"/>
          <p:cNvSpPr txBox="1"/>
          <p:nvPr/>
        </p:nvSpPr>
        <p:spPr>
          <a:xfrm>
            <a:off x="4819802" y="4648810"/>
            <a:ext cx="28675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Experience the AIR interface and YANDEX exchange environment.</a:t>
            </a:r>
            <a:endParaRPr lang="en-US" sz="1000" dirty="0"/>
          </a:p>
        </p:txBody>
      </p:sp>
      <p:sp>
        <p:nvSpPr>
          <p:cNvPr id="44" name="Shape 29"/>
          <p:cNvSpPr/>
          <p:nvPr/>
        </p:nvSpPr>
        <p:spPr>
          <a:xfrm>
            <a:off x="4581144" y="5084064"/>
            <a:ext cx="30294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0"/>
          <p:cNvSpPr txBox="1"/>
          <p:nvPr/>
        </p:nvSpPr>
        <p:spPr>
          <a:xfrm>
            <a:off x="5391302" y="5397703"/>
            <a:ext cx="14127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B9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 Meeting</a:t>
            </a:r>
            <a:endParaRPr lang="en-US" sz="1000" dirty="0"/>
          </a:p>
        </p:txBody>
      </p:sp>
      <p:sp>
        <p:nvSpPr>
          <p:cNvPr id="46" name="Shape 31"/>
          <p:cNvSpPr/>
          <p:nvPr/>
        </p:nvSpPr>
        <p:spPr>
          <a:xfrm>
            <a:off x="8096098" y="1804111"/>
            <a:ext cx="3524098" cy="4143146"/>
          </a:xfrm>
          <a:prstGeom prst="roundRect">
            <a:avLst>
              <a:gd name="adj" fmla="val 1683"/>
            </a:avLst>
          </a:prstGeom>
          <a:solidFill>
            <a:srgbClr val="F7F9FC">
              <a:alpha val="5000"/>
            </a:srgbClr>
          </a:solidFill>
          <a:ln w="12700">
            <a:solidFill>
              <a:srgbClr val="C0C5CE">
                <a:alpha val="10000"/>
              </a:srgbClr>
            </a:solidFill>
            <a:prstDash val="solid"/>
          </a:ln>
        </p:spPr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404" b="-404"/>
          <a:stretch/>
        </p:blipFill>
        <p:spPr>
          <a:xfrm>
            <a:off x="8106156" y="1813255"/>
            <a:ext cx="3504895" cy="38405"/>
          </a:xfrm>
          <a:prstGeom prst="rect">
            <a:avLst/>
          </a:prstGeom>
        </p:spPr>
      </p:pic>
      <p:sp>
        <p:nvSpPr>
          <p:cNvPr id="48" name="Shape 32"/>
          <p:cNvSpPr/>
          <p:nvPr/>
        </p:nvSpPr>
        <p:spPr>
          <a:xfrm>
            <a:off x="8343900" y="2051914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7F9FC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467344" y="2175358"/>
            <a:ext cx="228600" cy="228600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8962949" y="2152498"/>
            <a:ext cx="164957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9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 Outcome</a:t>
            </a:r>
            <a:endParaRPr lang="en-US" sz="1400" dirty="0"/>
          </a:p>
        </p:txBody>
      </p:sp>
      <p:sp>
        <p:nvSpPr>
          <p:cNvPr id="51" name="Shape 34"/>
          <p:cNvSpPr/>
          <p:nvPr/>
        </p:nvSpPr>
        <p:spPr>
          <a:xfrm>
            <a:off x="8343900" y="3135478"/>
            <a:ext cx="3029407" cy="972007"/>
          </a:xfrm>
          <a:prstGeom prst="roundRect">
            <a:avLst>
              <a:gd name="adj" fmla="val 1475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5"/>
          <p:cNvSpPr txBox="1"/>
          <p:nvPr/>
        </p:nvSpPr>
        <p:spPr>
          <a:xfrm>
            <a:off x="8449056" y="3279038"/>
            <a:ext cx="28200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7F9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"Join a compliant, human-centered, high-throughput digital asset ecosystem aligned to stewardship and transparency."</a:t>
            </a:r>
            <a:endParaRPr lang="en-US" sz="1200" dirty="0"/>
          </a:p>
        </p:txBody>
      </p:sp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359" b="-1359"/>
          <a:stretch/>
        </p:blipFill>
        <p:spPr>
          <a:xfrm>
            <a:off x="8343900" y="4440326"/>
            <a:ext cx="105156" cy="123444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563356" y="4392778"/>
            <a:ext cx="29882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Regulated, audit-ready infrastructure</a:t>
            </a:r>
            <a:endParaRPr lang="en-US" sz="1000" dirty="0"/>
          </a:p>
        </p:txBody>
      </p:sp>
      <p:pic>
        <p:nvPicPr>
          <p:cNvPr id="55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359" b="-1359"/>
          <a:stretch/>
        </p:blipFill>
        <p:spPr>
          <a:xfrm>
            <a:off x="8343900" y="4764938"/>
            <a:ext cx="105156" cy="123444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8563356" y="4717390"/>
            <a:ext cx="306598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Bridging traditional &amp; digital finance</a:t>
            </a:r>
            <a:endParaRPr lang="en-US" sz="1000" dirty="0"/>
          </a:p>
        </p:txBody>
      </p:sp>
      <p:sp>
        <p:nvSpPr>
          <p:cNvPr id="57" name="Shape 38"/>
          <p:cNvSpPr/>
          <p:nvPr/>
        </p:nvSpPr>
        <p:spPr>
          <a:xfrm>
            <a:off x="8343900" y="5316322"/>
            <a:ext cx="30294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39"/>
          <p:cNvSpPr txBox="1"/>
          <p:nvPr/>
        </p:nvSpPr>
        <p:spPr>
          <a:xfrm>
            <a:off x="8287207" y="5516575"/>
            <a:ext cx="3143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Launch: 2026-03-21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2026-03-21T03:44:30Z</dcterms:created>
  <dcterms:modified xsi:type="dcterms:W3CDTF">2026-03-21T03:44:30Z</dcterms:modified>
</cp:coreProperties>
</file>